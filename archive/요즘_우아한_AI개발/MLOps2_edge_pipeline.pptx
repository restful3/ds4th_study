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AFB207A-5480-02D3-E273-B2FAABAADA7E}" v="1251" dt="2025-08-29T16:49:58.49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3D09407-53BC-485E-B4CE-BC5E4FC4B2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21DB988-49FC-4608-B0A2-E2F3A40190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71297" y="4501891"/>
            <a:ext cx="10640754" cy="775845"/>
          </a:xfrm>
        </p:spPr>
        <p:txBody>
          <a:bodyPr anchor="b">
            <a:normAutofit/>
          </a:bodyPr>
          <a:lstStyle/>
          <a:p>
            <a:r>
              <a:rPr lang="en-US" sz="3200" dirty="0">
                <a:solidFill>
                  <a:schemeClr val="tx2"/>
                </a:solidFill>
              </a:rPr>
              <a:t>AI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14121" y="5591099"/>
            <a:ext cx="9163757" cy="450447"/>
          </a:xfrm>
        </p:spPr>
        <p:txBody>
          <a:bodyPr anchor="ctr">
            <a:normAutofit fontScale="77500" lnSpcReduction="20000"/>
          </a:bodyPr>
          <a:lstStyle/>
          <a:p>
            <a:r>
              <a:rPr lang="en-US" sz="2000" dirty="0">
                <a:solidFill>
                  <a:schemeClr val="tx2"/>
                </a:solidFill>
              </a:rPr>
              <a:t>2025.08.30</a:t>
            </a:r>
            <a:br>
              <a:rPr lang="en-US" sz="2000" dirty="0">
                <a:solidFill>
                  <a:schemeClr val="tx2"/>
                </a:solidFill>
              </a:rPr>
            </a:br>
            <a:r>
              <a:rPr lang="en-US" sz="2000" dirty="0">
                <a:solidFill>
                  <a:schemeClr val="tx2"/>
                </a:solidFill>
              </a:rPr>
              <a:t>Sung-Jin Choi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E9B930FD-8671-4C4C-ADCF-73AC1D0CD4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9676747" y="0"/>
            <a:ext cx="2514948" cy="2174333"/>
            <a:chOff x="-305" y="-4155"/>
            <a:chExt cx="2514948" cy="2174333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35B12C1-569C-4E37-AA33-7EF215F201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F23E2660-7810-46F6-8752-187127C830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991DC45-0378-45B3-B325-FB8F98545E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228F5BA-5150-4554-B7EA-93F371F3B1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4" name="Picture 3" descr="A close up of a logo&#10;&#10;AI-generated content may be incorrect.">
            <a:extLst>
              <a:ext uri="{FF2B5EF4-FFF2-40B4-BE49-F238E27FC236}">
                <a16:creationId xmlns:a16="http://schemas.microsoft.com/office/drawing/2014/main" id="{01DEC7FA-3D11-D2B9-29E6-39DFA9B454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1097" y="1490170"/>
            <a:ext cx="7003869" cy="2836567"/>
          </a:xfrm>
          <a:prstGeom prst="rect">
            <a:avLst/>
          </a:prstGeom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383C2651-AE0C-4AE4-8725-E2F9414FE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-305" y="4322879"/>
            <a:ext cx="3378428" cy="2535121"/>
            <a:chOff x="-305" y="-1"/>
            <a:chExt cx="3832880" cy="2876136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CCE13265-B5D2-47B4-A199-E05F390D5B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693EBD03-D832-462C-9304-7273698ED4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0D53D3E2-805E-40D2-964F-352BF6D476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B7A9A916-A926-43E6-800F-432ABC3F24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C61C11-B66B-040C-119F-7424BAF706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87"/>
            <a:ext cx="10515600" cy="1325563"/>
          </a:xfrm>
        </p:spPr>
        <p:txBody>
          <a:bodyPr/>
          <a:lstStyle/>
          <a:p>
            <a:pPr algn="ctr"/>
            <a:r>
              <a:rPr lang="ko-KR" altLang="en-US" b="1">
                <a:ea typeface="맑은 고딕"/>
              </a:rPr>
              <a:t>Machine Learning Operations (MLOps)</a:t>
            </a:r>
            <a:endParaRPr lang="en-US" b="1"/>
          </a:p>
        </p:txBody>
      </p:sp>
      <p:pic>
        <p:nvPicPr>
          <p:cNvPr id="3" name="Picture 2" descr="MLOps 구성 요소">
            <a:extLst>
              <a:ext uri="{FF2B5EF4-FFF2-40B4-BE49-F238E27FC236}">
                <a16:creationId xmlns:a16="http://schemas.microsoft.com/office/drawing/2014/main" id="{2B8668D3-565D-28D0-F335-DB49A300E8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2391" y="1266514"/>
            <a:ext cx="10473450" cy="5139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80203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9E3D9-C3C0-2C03-6805-BDB4A86D9D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86" y="2268"/>
            <a:ext cx="12210514" cy="1325563"/>
          </a:xfrm>
        </p:spPr>
        <p:txBody>
          <a:bodyPr/>
          <a:lstStyle/>
          <a:p>
            <a:pPr algn="ctr"/>
            <a:r>
              <a:rPr lang="ko-KR" altLang="en-US">
                <a:ea typeface="맑은 고딕"/>
              </a:rPr>
              <a:t>Edge Devices에서 AI 연산</a:t>
            </a:r>
            <a:endParaRPr lang="en-US" dirty="0"/>
          </a:p>
        </p:txBody>
      </p:sp>
      <p:pic>
        <p:nvPicPr>
          <p:cNvPr id="3" name="Picture 2" descr="A diagram of a cloud computing system&#10;&#10;AI-generated content may be incorrect.">
            <a:extLst>
              <a:ext uri="{FF2B5EF4-FFF2-40B4-BE49-F238E27FC236}">
                <a16:creationId xmlns:a16="http://schemas.microsoft.com/office/drawing/2014/main" id="{FD57D8D4-9A09-F006-217D-0605A78A0D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701" y="1457027"/>
            <a:ext cx="4805987" cy="477291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0293197-8CE5-73AF-C224-3B99DFCE14AA}"/>
              </a:ext>
            </a:extLst>
          </p:cNvPr>
          <p:cNvSpPr txBox="1"/>
          <p:nvPr/>
        </p:nvSpPr>
        <p:spPr>
          <a:xfrm>
            <a:off x="6385679" y="2308875"/>
            <a:ext cx="5273862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ko-KR" altLang="en-US" b="1" dirty="0" err="1">
                <a:ea typeface="맑은 고딕"/>
              </a:rPr>
              <a:t>On-device</a:t>
            </a:r>
            <a:r>
              <a:rPr lang="ko-KR" altLang="en-US" dirty="0">
                <a:ea typeface="맑은 고딕"/>
              </a:rPr>
              <a:t>: 클라우드나 기타 서버에 의존하지 않고 에지 디바이스 자체에서 AI 연산을 수행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0787200-0B6A-D3B1-39C3-36DA9530BFF7}"/>
              </a:ext>
            </a:extLst>
          </p:cNvPr>
          <p:cNvSpPr txBox="1"/>
          <p:nvPr/>
        </p:nvSpPr>
        <p:spPr>
          <a:xfrm>
            <a:off x="6217065" y="4180317"/>
            <a:ext cx="5440822" cy="20313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ko-KR" altLang="en-US" b="1">
                <a:ea typeface="맑은 고딕"/>
              </a:rPr>
              <a:t>[Edge Devices에서 AI 연산이 필요한 이유]</a:t>
            </a:r>
            <a:endParaRPr lang="ko-KR" altLang="en-US" b="1" dirty="0">
              <a:ea typeface="맑은 고딕"/>
            </a:endParaRPr>
          </a:p>
          <a:p>
            <a:pPr marL="285750" indent="-285750">
              <a:buFont typeface="Arial"/>
              <a:buChar char="•"/>
            </a:pPr>
            <a:r>
              <a:rPr lang="ko-KR" altLang="en-US">
                <a:ea typeface="맑은 고딕"/>
              </a:rPr>
              <a:t>연산할 때마다 서버와의 무선  통신이 필요하다면 </a:t>
            </a:r>
            <a:r>
              <a:rPr lang="ko-KR" altLang="en-US" b="1">
                <a:ea typeface="맑은 고딕"/>
              </a:rPr>
              <a:t>시간 지연</a:t>
            </a:r>
            <a:r>
              <a:rPr lang="ko-KR" altLang="en-US">
                <a:ea typeface="맑은 고딕"/>
              </a:rPr>
              <a:t>이 생김</a:t>
            </a:r>
            <a:endParaRPr lang="ko-KR"/>
          </a:p>
          <a:p>
            <a:pPr marL="285750" indent="-285750">
              <a:buFont typeface="Arial"/>
              <a:buChar char="•"/>
            </a:pPr>
            <a:r>
              <a:rPr lang="ko-KR" altLang="en-US">
                <a:ea typeface="맑은 고딕"/>
              </a:rPr>
              <a:t>주행 중 인터넷 연결이나 기타 무선 통신 연결이 잠시 </a:t>
            </a:r>
            <a:r>
              <a:rPr lang="ko-KR" altLang="en-US" b="1">
                <a:ea typeface="맑은 고딕"/>
              </a:rPr>
              <a:t>멈추더라도 멈추지 않고 작동</a:t>
            </a:r>
            <a:endParaRPr lang="ko-KR" altLang="en-US" b="1" dirty="0">
              <a:ea typeface="맑은 고딕"/>
            </a:endParaRPr>
          </a:p>
          <a:p>
            <a:pPr marL="285750" indent="-285750">
              <a:buFont typeface="Arial"/>
              <a:buChar char="•"/>
            </a:pPr>
            <a:r>
              <a:rPr lang="ko-KR" altLang="en-US">
                <a:ea typeface="맑은 고딕"/>
              </a:rPr>
              <a:t>민감한 </a:t>
            </a:r>
            <a:r>
              <a:rPr lang="ko-KR" altLang="en-US" b="1">
                <a:ea typeface="맑은 고딕"/>
              </a:rPr>
              <a:t>개인 정보</a:t>
            </a:r>
            <a:r>
              <a:rPr lang="ko-KR" altLang="en-US">
                <a:ea typeface="맑은 고딕"/>
              </a:rPr>
              <a:t>를 보호하는 데도 온디바이스 AI가 유리함</a:t>
            </a:r>
            <a:endParaRPr lang="ko-KR" altLang="en-US" dirty="0">
              <a:ea typeface="맑은 고딕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F19AE46-A64C-F758-FA48-672936F8E67E}"/>
              </a:ext>
            </a:extLst>
          </p:cNvPr>
          <p:cNvSpPr/>
          <p:nvPr/>
        </p:nvSpPr>
        <p:spPr>
          <a:xfrm>
            <a:off x="683663" y="4593363"/>
            <a:ext cx="4956561" cy="161657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5271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CDDB02-9DB9-8DEC-AEA8-4EFEAD233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29"/>
            <a:ext cx="10515600" cy="1325563"/>
          </a:xfrm>
        </p:spPr>
        <p:txBody>
          <a:bodyPr/>
          <a:lstStyle/>
          <a:p>
            <a:pPr algn="ctr"/>
            <a:r>
              <a:rPr lang="en-US" b="1"/>
              <a:t>TensorRT in Edge Pipeline</a:t>
            </a:r>
          </a:p>
        </p:txBody>
      </p:sp>
      <p:pic>
        <p:nvPicPr>
          <p:cNvPr id="3" name="Picture 2" descr="A diagram of a machine learning&#10;&#10;AI-generated content may be incorrect.">
            <a:extLst>
              <a:ext uri="{FF2B5EF4-FFF2-40B4-BE49-F238E27FC236}">
                <a16:creationId xmlns:a16="http://schemas.microsoft.com/office/drawing/2014/main" id="{EBB411FA-1FD2-E7E8-1FCD-A6D30CF7EE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4184" y="4369061"/>
            <a:ext cx="5344266" cy="241643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2791D43-7A13-47B1-63F2-8E18585FF47A}"/>
              </a:ext>
            </a:extLst>
          </p:cNvPr>
          <p:cNvSpPr txBox="1"/>
          <p:nvPr/>
        </p:nvSpPr>
        <p:spPr>
          <a:xfrm>
            <a:off x="838035" y="1140951"/>
            <a:ext cx="10515282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ko-KR" altLang="en-US">
                <a:ea typeface="맑은 고딕"/>
              </a:rPr>
              <a:t>TensorRT(엔비디아가 제공)가 ONNX 포맷의 모델을 GPU 하드웨어에서 inference 최적화 수행</a:t>
            </a:r>
            <a:endParaRPr lang="ko-KR" altLang="en-US" dirty="0">
              <a:ea typeface="맑은 고딕"/>
            </a:endParaRPr>
          </a:p>
        </p:txBody>
      </p:sp>
      <p:pic>
        <p:nvPicPr>
          <p:cNvPr id="4" name="Picture 3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2E4AF2EE-3305-07A7-ADA3-E7F27BDC1BB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4619" r="-144" b="-205"/>
          <a:stretch>
            <a:fillRect/>
          </a:stretch>
        </p:blipFill>
        <p:spPr>
          <a:xfrm>
            <a:off x="1233207" y="2182423"/>
            <a:ext cx="4945638" cy="192959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CB33D2E-DB9D-ACD0-1229-662043F54D82}"/>
              </a:ext>
            </a:extLst>
          </p:cNvPr>
          <p:cNvSpPr txBox="1"/>
          <p:nvPr/>
        </p:nvSpPr>
        <p:spPr>
          <a:xfrm>
            <a:off x="6946306" y="2210511"/>
            <a:ext cx="4680247" cy="181588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b="1"/>
              <a:t>🔹 TensorRT Runtime</a:t>
            </a:r>
            <a:endParaRPr lang="en-US" altLang="ko-KR" sz="1400" b="1"/>
          </a:p>
          <a:p>
            <a:pPr marL="228600" indent="-228600">
              <a:buFont typeface=""/>
              <a:buChar char="•"/>
            </a:pPr>
            <a:r>
              <a:rPr lang="ko-KR" altLang="en-US" sz="1400" b="1">
                <a:ea typeface="맑은 고딕"/>
              </a:rPr>
              <a:t>역할</a:t>
            </a:r>
            <a:r>
              <a:rPr lang="en-US" sz="1400"/>
              <a:t>: Optimizer</a:t>
            </a:r>
            <a:r>
              <a:rPr lang="ko-KR" altLang="en-US" sz="1400">
                <a:ea typeface="맑은 고딕"/>
              </a:rPr>
              <a:t>가</a:t>
            </a:r>
            <a:r>
              <a:rPr lang="en-US" altLang="ko-KR" sz="1400" dirty="0">
                <a:ea typeface="맑은 고딕"/>
              </a:rPr>
              <a:t> </a:t>
            </a:r>
            <a:r>
              <a:rPr lang="ko-KR" altLang="en-US" sz="1400">
                <a:ea typeface="맑은 고딕"/>
              </a:rPr>
              <a:t>만든</a:t>
            </a:r>
            <a:r>
              <a:rPr lang="en-US" altLang="ko-KR" sz="1400" dirty="0">
                <a:ea typeface="맑은 고딕"/>
              </a:rPr>
              <a:t> </a:t>
            </a:r>
            <a:r>
              <a:rPr lang="ko-KR" altLang="en-US" sz="1400">
                <a:ea typeface="맑은 고딕"/>
              </a:rPr>
              <a:t>엔진을</a:t>
            </a:r>
            <a:r>
              <a:rPr lang="en-US" altLang="ko-KR" sz="1400" dirty="0">
                <a:ea typeface="맑은 고딕"/>
              </a:rPr>
              <a:t> </a:t>
            </a:r>
            <a:r>
              <a:rPr lang="ko-KR" altLang="en-US" sz="1400" b="1">
                <a:ea typeface="맑은 고딕"/>
              </a:rPr>
              <a:t>실제로</a:t>
            </a:r>
            <a:r>
              <a:rPr lang="en-US" altLang="ko-KR" sz="1400" b="1" dirty="0">
                <a:ea typeface="맑은 고딕"/>
              </a:rPr>
              <a:t> </a:t>
            </a:r>
            <a:r>
              <a:rPr lang="ko-KR" altLang="en-US" sz="1400" b="1">
                <a:ea typeface="맑은 고딕"/>
              </a:rPr>
              <a:t>실행</a:t>
            </a:r>
            <a:r>
              <a:rPr lang="ko-KR" altLang="en-US" sz="1400">
                <a:ea typeface="맑은 고딕"/>
              </a:rPr>
              <a:t>하는</a:t>
            </a:r>
            <a:r>
              <a:rPr lang="en-US" altLang="ko-KR" sz="1400" dirty="0">
                <a:ea typeface="맑은 고딕"/>
              </a:rPr>
              <a:t> </a:t>
            </a:r>
            <a:r>
              <a:rPr lang="ko-KR" altLang="en-US" sz="1400">
                <a:ea typeface="맑은 고딕"/>
              </a:rPr>
              <a:t>부분</a:t>
            </a:r>
            <a:r>
              <a:rPr lang="en-US" sz="1400"/>
              <a:t>.</a:t>
            </a:r>
            <a:endParaRPr lang="en-US" altLang="ko-KR" sz="1400"/>
          </a:p>
          <a:p>
            <a:pPr marL="228600" indent="-228600">
              <a:buFont typeface=""/>
              <a:buChar char="•"/>
            </a:pPr>
            <a:r>
              <a:rPr lang="ko-KR" altLang="en-US" sz="1400" b="1">
                <a:ea typeface="맑은 고딕"/>
              </a:rPr>
              <a:t>하는</a:t>
            </a:r>
            <a:r>
              <a:rPr lang="en-US" altLang="ko-KR" sz="1400" b="1" dirty="0">
                <a:ea typeface="맑은 고딕"/>
              </a:rPr>
              <a:t> </a:t>
            </a:r>
            <a:r>
              <a:rPr lang="ko-KR" altLang="en-US" sz="1400" b="1">
                <a:ea typeface="맑은 고딕"/>
              </a:rPr>
              <a:t>일</a:t>
            </a:r>
            <a:r>
              <a:rPr lang="en-US" sz="1400"/>
              <a:t>:</a:t>
            </a:r>
            <a:endParaRPr lang="en-US" altLang="ko-KR" sz="1400"/>
          </a:p>
          <a:p>
            <a:pPr marL="228600" lvl="1" indent="-228600">
              <a:buFont typeface=""/>
              <a:buChar char="•"/>
            </a:pPr>
            <a:r>
              <a:rPr lang="ko-KR" altLang="en-US" sz="1400">
                <a:ea typeface="맑은 고딕"/>
              </a:rPr>
              <a:t>엔진</a:t>
            </a:r>
            <a:r>
              <a:rPr lang="en-US" altLang="ko-KR" sz="1400" dirty="0">
                <a:ea typeface="맑은 고딕"/>
              </a:rPr>
              <a:t> </a:t>
            </a:r>
            <a:r>
              <a:rPr lang="ko-KR" altLang="en-US" sz="1400">
                <a:ea typeface="맑은 고딕"/>
              </a:rPr>
              <a:t>파일</a:t>
            </a:r>
            <a:r>
              <a:rPr lang="en-US" altLang="ko-KR" sz="1400" dirty="0">
                <a:ea typeface="맑은 고딕"/>
              </a:rPr>
              <a:t> </a:t>
            </a:r>
            <a:r>
              <a:rPr lang="ko-KR" altLang="en-US" sz="1400">
                <a:ea typeface="맑은 고딕"/>
              </a:rPr>
              <a:t>로드</a:t>
            </a:r>
            <a:r>
              <a:rPr lang="en-US" sz="1400"/>
              <a:t>(deserialize)</a:t>
            </a:r>
            <a:endParaRPr lang="en-US" altLang="ko-KR" sz="1400"/>
          </a:p>
          <a:p>
            <a:pPr marL="228600" lvl="1" indent="-228600">
              <a:buFont typeface=""/>
              <a:buChar char="•"/>
            </a:pPr>
            <a:r>
              <a:rPr lang="ko-KR" altLang="en-US" sz="1400">
                <a:ea typeface="맑은 고딕"/>
              </a:rPr>
              <a:t>입력</a:t>
            </a:r>
            <a:r>
              <a:rPr lang="en-US" sz="1400"/>
              <a:t>/</a:t>
            </a:r>
            <a:r>
              <a:rPr lang="ko-KR" altLang="en-US" sz="1400">
                <a:ea typeface="맑은 고딕"/>
              </a:rPr>
              <a:t>출력</a:t>
            </a:r>
            <a:r>
              <a:rPr lang="en-US" sz="1400"/>
              <a:t> tensor</a:t>
            </a:r>
            <a:r>
              <a:rPr lang="en-US" altLang="ko-KR" sz="1400" dirty="0">
                <a:ea typeface="맑은 고딕"/>
              </a:rPr>
              <a:t> </a:t>
            </a:r>
            <a:r>
              <a:rPr lang="ko-KR" altLang="en-US" sz="1400">
                <a:ea typeface="맑은 고딕"/>
              </a:rPr>
              <a:t>바인딩</a:t>
            </a:r>
            <a:endParaRPr lang="en-US" sz="1200">
              <a:ea typeface="맑은 고딕"/>
            </a:endParaRPr>
          </a:p>
          <a:p>
            <a:pPr marL="228600" lvl="1" indent="-228600">
              <a:buFont typeface=""/>
              <a:buChar char="•"/>
            </a:pPr>
            <a:r>
              <a:rPr lang="en-US" sz="1400"/>
              <a:t>GPU</a:t>
            </a:r>
            <a:r>
              <a:rPr lang="en-US" altLang="ko-KR" sz="1400" dirty="0">
                <a:ea typeface="맑은 고딕"/>
              </a:rPr>
              <a:t> </a:t>
            </a:r>
            <a:r>
              <a:rPr lang="ko-KR" altLang="en-US" sz="1400">
                <a:ea typeface="맑은 고딕"/>
              </a:rPr>
              <a:t>메모리</a:t>
            </a:r>
            <a:r>
              <a:rPr lang="en-US" altLang="ko-KR" sz="1400" dirty="0">
                <a:ea typeface="맑은 고딕"/>
              </a:rPr>
              <a:t> </a:t>
            </a:r>
            <a:r>
              <a:rPr lang="ko-KR" altLang="en-US" sz="1400">
                <a:ea typeface="맑은 고딕"/>
              </a:rPr>
              <a:t>관리</a:t>
            </a:r>
            <a:endParaRPr lang="en-US" sz="1400">
              <a:ea typeface="맑은 고딕"/>
            </a:endParaRPr>
          </a:p>
          <a:p>
            <a:pPr marL="228600" lvl="1" indent="-228600">
              <a:buFont typeface=""/>
              <a:buChar char="•"/>
            </a:pPr>
            <a:r>
              <a:rPr lang="en-US" sz="1400"/>
              <a:t>CUDA</a:t>
            </a:r>
            <a:r>
              <a:rPr lang="en-US" altLang="ko-KR" sz="1400" dirty="0">
                <a:ea typeface="맑은 고딕"/>
              </a:rPr>
              <a:t> </a:t>
            </a:r>
            <a:r>
              <a:rPr lang="ko-KR" altLang="en-US" sz="1400">
                <a:ea typeface="맑은 고딕"/>
              </a:rPr>
              <a:t>스트림에서</a:t>
            </a:r>
            <a:r>
              <a:rPr lang="en-US" altLang="ko-KR" sz="1400" dirty="0">
                <a:ea typeface="맑은 고딕"/>
              </a:rPr>
              <a:t> </a:t>
            </a:r>
            <a:r>
              <a:rPr lang="ko-KR" altLang="en-US" sz="1400" b="1">
                <a:ea typeface="맑은 고딕"/>
              </a:rPr>
              <a:t>실시간</a:t>
            </a:r>
            <a:r>
              <a:rPr lang="en-US" altLang="ko-KR" sz="1400" b="1" dirty="0">
                <a:ea typeface="맑은 고딕"/>
              </a:rPr>
              <a:t> </a:t>
            </a:r>
            <a:r>
              <a:rPr lang="ko-KR" altLang="en-US" sz="1400" b="1">
                <a:ea typeface="맑은 고딕"/>
              </a:rPr>
              <a:t>추론</a:t>
            </a:r>
            <a:r>
              <a:rPr lang="en-US" altLang="ko-KR" sz="1400" b="1" dirty="0">
                <a:ea typeface="맑은 고딕"/>
              </a:rPr>
              <a:t> </a:t>
            </a:r>
            <a:r>
              <a:rPr lang="ko-KR" altLang="en-US" sz="1400" b="1">
                <a:ea typeface="맑은 고딕"/>
              </a:rPr>
              <a:t>실행</a:t>
            </a:r>
            <a:endParaRPr lang="en-US" altLang="ko-KR" sz="1400" b="1">
              <a:ea typeface="맑은 고딕"/>
            </a:endParaRPr>
          </a:p>
          <a:p>
            <a:pPr marL="228600" indent="-228600">
              <a:buFont typeface=""/>
              <a:buChar char="•"/>
            </a:pPr>
            <a:r>
              <a:rPr lang="ko-KR" altLang="en-US" sz="1400" b="1">
                <a:ea typeface="맑은 고딕"/>
              </a:rPr>
              <a:t>출력</a:t>
            </a:r>
            <a:r>
              <a:rPr lang="en-US" sz="1400"/>
              <a:t>:</a:t>
            </a:r>
            <a:r>
              <a:rPr lang="en-US" altLang="ko-KR" sz="1400" dirty="0">
                <a:ea typeface="맑은 고딕"/>
              </a:rPr>
              <a:t> </a:t>
            </a:r>
            <a:r>
              <a:rPr lang="ko-KR" altLang="en-US" sz="1400">
                <a:ea typeface="맑은 고딕"/>
              </a:rPr>
              <a:t>추론</a:t>
            </a:r>
            <a:r>
              <a:rPr lang="en-US" altLang="ko-KR" sz="1400" dirty="0">
                <a:ea typeface="맑은 고딕"/>
              </a:rPr>
              <a:t> </a:t>
            </a:r>
            <a:r>
              <a:rPr lang="ko-KR" altLang="en-US" sz="1400">
                <a:ea typeface="맑은 고딕"/>
              </a:rPr>
              <a:t>결과값</a:t>
            </a:r>
            <a:endParaRPr lang="en-US" sz="1400">
              <a:ea typeface="맑은 고딕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864D0B7-C886-8352-0931-3ED96353FCA2}"/>
              </a:ext>
            </a:extLst>
          </p:cNvPr>
          <p:cNvSpPr txBox="1"/>
          <p:nvPr/>
        </p:nvSpPr>
        <p:spPr>
          <a:xfrm>
            <a:off x="700756" y="4126195"/>
            <a:ext cx="6902153" cy="246221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b="1"/>
              <a:t>🔹 TensorRT Optimizer</a:t>
            </a:r>
            <a:endParaRPr lang="en-US" altLang="ko-KR" sz="1400" b="1" dirty="0">
              <a:ea typeface="맑은 고딕"/>
            </a:endParaRPr>
          </a:p>
          <a:p>
            <a:pPr marL="228600" indent="-228600">
              <a:buFont typeface=""/>
              <a:buChar char="•"/>
            </a:pPr>
            <a:r>
              <a:rPr lang="ko-KR" altLang="en-US" sz="1400" b="1">
                <a:ea typeface="맑은 고딕"/>
              </a:rPr>
              <a:t>역할</a:t>
            </a:r>
            <a:r>
              <a:rPr lang="en-US" sz="1400"/>
              <a:t>:</a:t>
            </a:r>
            <a:r>
              <a:rPr lang="en-US" altLang="ko-KR" sz="1400" dirty="0">
                <a:ea typeface="맑은 고딕"/>
              </a:rPr>
              <a:t> </a:t>
            </a:r>
            <a:r>
              <a:rPr lang="ko-KR" altLang="en-US" sz="1400">
                <a:ea typeface="맑은 고딕"/>
              </a:rPr>
              <a:t>학습된</a:t>
            </a:r>
            <a:r>
              <a:rPr lang="en-US" altLang="ko-KR" sz="1400" dirty="0">
                <a:ea typeface="맑은 고딕"/>
              </a:rPr>
              <a:t> </a:t>
            </a:r>
            <a:r>
              <a:rPr lang="ko-KR" altLang="en-US" sz="1400">
                <a:ea typeface="맑은 고딕"/>
              </a:rPr>
              <a:t>모델</a:t>
            </a:r>
            <a:r>
              <a:rPr lang="en-US" sz="1400"/>
              <a:t>(ONNX</a:t>
            </a:r>
            <a:r>
              <a:rPr lang="en-US" altLang="ko-KR" sz="1400" dirty="0">
                <a:ea typeface="맑은 고딕"/>
              </a:rPr>
              <a:t> </a:t>
            </a:r>
            <a:r>
              <a:rPr lang="ko-KR" altLang="en-US" sz="1400">
                <a:ea typeface="맑은 고딕"/>
              </a:rPr>
              <a:t>등</a:t>
            </a:r>
            <a:r>
              <a:rPr lang="en-US" sz="1400"/>
              <a:t>)</a:t>
            </a:r>
            <a:r>
              <a:rPr lang="ko-KR" altLang="en-US" sz="1400">
                <a:ea typeface="맑은 고딕"/>
              </a:rPr>
              <a:t>을</a:t>
            </a:r>
            <a:r>
              <a:rPr lang="en-US" sz="1400" dirty="0"/>
              <a:t> </a:t>
            </a:r>
            <a:r>
              <a:rPr lang="en-US" sz="1400" b="1"/>
              <a:t>GPU</a:t>
            </a:r>
            <a:r>
              <a:rPr lang="en-US" altLang="ko-KR" sz="1400" b="1" dirty="0">
                <a:ea typeface="맑은 고딕"/>
              </a:rPr>
              <a:t> </a:t>
            </a:r>
            <a:r>
              <a:rPr lang="ko-KR" altLang="en-US" sz="1400" b="1">
                <a:ea typeface="맑은 고딕"/>
              </a:rPr>
              <a:t>아키텍처에</a:t>
            </a:r>
            <a:r>
              <a:rPr lang="en-US" altLang="ko-KR" sz="1400" b="1" dirty="0">
                <a:ea typeface="맑은 고딕"/>
              </a:rPr>
              <a:t> </a:t>
            </a:r>
            <a:r>
              <a:rPr lang="ko-KR" altLang="en-US" sz="1400" b="1">
                <a:ea typeface="맑은 고딕"/>
              </a:rPr>
              <a:t>맞게</a:t>
            </a:r>
            <a:r>
              <a:rPr lang="en-US" altLang="ko-KR" sz="1400" b="1" dirty="0">
                <a:ea typeface="맑은 고딕"/>
              </a:rPr>
              <a:t> </a:t>
            </a:r>
            <a:r>
              <a:rPr lang="ko-KR" altLang="en-US" sz="1400" b="1">
                <a:ea typeface="맑은 고딕"/>
              </a:rPr>
              <a:t>최적화</a:t>
            </a:r>
            <a:br>
              <a:rPr lang="ko-KR" altLang="en-US" sz="1400" b="1" dirty="0">
                <a:ea typeface="맑은 고딕"/>
              </a:rPr>
            </a:br>
            <a:r>
              <a:rPr lang="ko-KR" altLang="en-US" sz="1400">
                <a:ea typeface="맑은 고딕"/>
              </a:rPr>
              <a:t>해서</a:t>
            </a:r>
            <a:r>
              <a:rPr lang="en-US" altLang="ko-KR" sz="1400" dirty="0">
                <a:ea typeface="맑은 고딕"/>
              </a:rPr>
              <a:t> </a:t>
            </a:r>
            <a:r>
              <a:rPr lang="ko-KR" altLang="en-US" sz="1400">
                <a:ea typeface="맑은 고딕"/>
              </a:rPr>
              <a:t>실행</a:t>
            </a:r>
            <a:r>
              <a:rPr lang="en-US" altLang="ko-KR" sz="1400" dirty="0">
                <a:ea typeface="맑은 고딕"/>
              </a:rPr>
              <a:t> </a:t>
            </a:r>
            <a:r>
              <a:rPr lang="ko-KR" altLang="en-US" sz="1400">
                <a:ea typeface="맑은 고딕"/>
              </a:rPr>
              <a:t>가능한</a:t>
            </a:r>
            <a:r>
              <a:rPr lang="en-US" sz="1400" dirty="0"/>
              <a:t> </a:t>
            </a:r>
            <a:r>
              <a:rPr lang="en-US" altLang="ko-KR" sz="1400">
                <a:ea typeface="맑은 고딕"/>
              </a:rPr>
              <a:t>**</a:t>
            </a:r>
            <a:r>
              <a:rPr lang="ko-KR" altLang="en-US" sz="1400">
                <a:ea typeface="맑은 고딕"/>
              </a:rPr>
              <a:t>엔진</a:t>
            </a:r>
            <a:r>
              <a:rPr lang="en-US" sz="1400"/>
              <a:t>(engine, plan file)**</a:t>
            </a:r>
            <a:r>
              <a:rPr lang="ko-KR" altLang="en-US" sz="1400" dirty="0">
                <a:ea typeface="맑은 고딕"/>
              </a:rPr>
              <a:t>을</a:t>
            </a:r>
            <a:r>
              <a:rPr lang="en-US" altLang="ko-KR" sz="1400" dirty="0">
                <a:ea typeface="맑은 고딕"/>
              </a:rPr>
              <a:t> </a:t>
            </a:r>
            <a:r>
              <a:rPr lang="ko-KR" altLang="en-US" sz="1400">
                <a:ea typeface="맑은 고딕"/>
              </a:rPr>
              <a:t>생성</a:t>
            </a:r>
            <a:r>
              <a:rPr lang="en-US" sz="1400" dirty="0"/>
              <a:t>.</a:t>
            </a:r>
            <a:endParaRPr lang="en-US" altLang="ko-KR" sz="1400" dirty="0">
              <a:ea typeface="맑은 고딕"/>
            </a:endParaRPr>
          </a:p>
          <a:p>
            <a:pPr marL="228600" indent="-228600">
              <a:buFont typeface=""/>
              <a:buChar char="•"/>
            </a:pPr>
            <a:r>
              <a:rPr lang="ko-KR" altLang="en-US" sz="1400" b="1">
                <a:ea typeface="맑은 고딕"/>
              </a:rPr>
              <a:t>하는</a:t>
            </a:r>
            <a:r>
              <a:rPr lang="en-US" altLang="ko-KR" sz="1400" b="1" dirty="0">
                <a:ea typeface="맑은 고딕"/>
              </a:rPr>
              <a:t> </a:t>
            </a:r>
            <a:r>
              <a:rPr lang="ko-KR" altLang="en-US" sz="1400" b="1">
                <a:ea typeface="맑은 고딕"/>
              </a:rPr>
              <a:t>일</a:t>
            </a:r>
            <a:r>
              <a:rPr lang="en-US" sz="1400"/>
              <a:t>:</a:t>
            </a:r>
            <a:endParaRPr lang="en-US" altLang="ko-KR" sz="1400" dirty="0">
              <a:ea typeface="맑은 고딕"/>
            </a:endParaRPr>
          </a:p>
          <a:p>
            <a:pPr marL="228600" lvl="1" indent="-228600">
              <a:buFont typeface=""/>
              <a:buChar char="•"/>
            </a:pPr>
            <a:r>
              <a:rPr lang="ko-KR" altLang="en-US" sz="1400">
                <a:ea typeface="맑은 고딕"/>
              </a:rPr>
              <a:t>레이어</a:t>
            </a:r>
            <a:r>
              <a:rPr lang="en-US" sz="1400"/>
              <a:t>/</a:t>
            </a:r>
            <a:r>
              <a:rPr lang="ko-KR" altLang="en-US" sz="1400">
                <a:ea typeface="맑은 고딕"/>
              </a:rPr>
              <a:t>연산자</a:t>
            </a:r>
            <a:r>
              <a:rPr lang="en-US" sz="1400" dirty="0"/>
              <a:t> </a:t>
            </a:r>
            <a:r>
              <a:rPr lang="en-US" sz="1400" b="1"/>
              <a:t>fusion</a:t>
            </a:r>
            <a:r>
              <a:rPr lang="en-US" sz="1400" dirty="0"/>
              <a:t> </a:t>
            </a:r>
            <a:r>
              <a:rPr lang="en-US" sz="1400"/>
              <a:t>(</a:t>
            </a:r>
            <a:r>
              <a:rPr lang="ko-KR" altLang="en-US" sz="1400">
                <a:ea typeface="맑은 고딕"/>
              </a:rPr>
              <a:t>연산자</a:t>
            </a:r>
            <a:r>
              <a:rPr lang="en-US" altLang="ko-KR" sz="1400" dirty="0">
                <a:ea typeface="맑은 고딕"/>
              </a:rPr>
              <a:t> </a:t>
            </a:r>
            <a:r>
              <a:rPr lang="ko-KR" altLang="en-US" sz="1400">
                <a:ea typeface="맑은 고딕"/>
              </a:rPr>
              <a:t>합치기</a:t>
            </a:r>
            <a:r>
              <a:rPr lang="en-US" sz="1400"/>
              <a:t>)</a:t>
            </a:r>
            <a:endParaRPr lang="en-US" altLang="ko-KR" sz="1400" dirty="0">
              <a:ea typeface="맑은 고딕"/>
            </a:endParaRPr>
          </a:p>
          <a:p>
            <a:pPr marL="228600" lvl="1" indent="-228600">
              <a:buFont typeface=""/>
              <a:buChar char="•"/>
            </a:pPr>
            <a:r>
              <a:rPr lang="ko-KR" altLang="en-US" sz="1400" b="1">
                <a:ea typeface="맑은 고딕"/>
              </a:rPr>
              <a:t>정밀도</a:t>
            </a:r>
            <a:r>
              <a:rPr lang="en-US" altLang="ko-KR" sz="1400" b="1" dirty="0">
                <a:ea typeface="맑은 고딕"/>
              </a:rPr>
              <a:t> </a:t>
            </a:r>
            <a:r>
              <a:rPr lang="ko-KR" altLang="en-US" sz="1400" b="1">
                <a:ea typeface="맑은 고딕"/>
              </a:rPr>
              <a:t>변환</a:t>
            </a:r>
            <a:r>
              <a:rPr lang="en-US" sz="1400"/>
              <a:t> (FP32 → FP16, INT8)</a:t>
            </a:r>
            <a:endParaRPr lang="en-US" altLang="ko-KR" sz="1400" dirty="0">
              <a:ea typeface="맑은 고딕"/>
            </a:endParaRPr>
          </a:p>
          <a:p>
            <a:pPr marL="228600" lvl="1" indent="-228600">
              <a:buFont typeface=""/>
              <a:buChar char="•"/>
            </a:pPr>
            <a:r>
              <a:rPr lang="ko-KR" altLang="en-US" sz="1400" b="1">
                <a:ea typeface="맑은 고딕"/>
              </a:rPr>
              <a:t>메모리</a:t>
            </a:r>
            <a:r>
              <a:rPr lang="en-US" altLang="ko-KR" sz="1400" b="1" dirty="0">
                <a:ea typeface="맑은 고딕"/>
              </a:rPr>
              <a:t> </a:t>
            </a:r>
            <a:r>
              <a:rPr lang="ko-KR" altLang="en-US" sz="1400" b="1">
                <a:ea typeface="맑은 고딕"/>
              </a:rPr>
              <a:t>최적화</a:t>
            </a:r>
            <a:r>
              <a:rPr lang="en-US" sz="1400"/>
              <a:t> (buffer</a:t>
            </a:r>
            <a:r>
              <a:rPr lang="en-US" altLang="ko-KR" sz="1400" dirty="0">
                <a:ea typeface="맑은 고딕"/>
              </a:rPr>
              <a:t> </a:t>
            </a:r>
            <a:r>
              <a:rPr lang="ko-KR" altLang="en-US" sz="1400">
                <a:ea typeface="맑은 고딕"/>
              </a:rPr>
              <a:t>재사용</a:t>
            </a:r>
            <a:r>
              <a:rPr lang="en-US" sz="1400"/>
              <a:t>, layout</a:t>
            </a:r>
            <a:r>
              <a:rPr lang="en-US" altLang="ko-KR" sz="1400" dirty="0">
                <a:ea typeface="맑은 고딕"/>
              </a:rPr>
              <a:t> </a:t>
            </a:r>
            <a:r>
              <a:rPr lang="ko-KR" altLang="en-US" sz="1400">
                <a:ea typeface="맑은 고딕"/>
              </a:rPr>
              <a:t>변경</a:t>
            </a:r>
            <a:r>
              <a:rPr lang="en-US" sz="1400"/>
              <a:t>)</a:t>
            </a:r>
            <a:endParaRPr lang="en-US" sz="1400" dirty="0"/>
          </a:p>
          <a:p>
            <a:pPr marL="228600" lvl="1" indent="-228600">
              <a:buFont typeface=""/>
              <a:buChar char="•"/>
            </a:pPr>
            <a:r>
              <a:rPr lang="en-US" sz="1400"/>
              <a:t>GPU</a:t>
            </a:r>
            <a:r>
              <a:rPr lang="ko-KR" altLang="en-US" sz="1400">
                <a:ea typeface="맑은 고딕"/>
              </a:rPr>
              <a:t>에</a:t>
            </a:r>
            <a:r>
              <a:rPr lang="en-US" altLang="ko-KR" sz="1400" dirty="0">
                <a:ea typeface="맑은 고딕"/>
              </a:rPr>
              <a:t> </a:t>
            </a:r>
            <a:r>
              <a:rPr lang="ko-KR" altLang="en-US" sz="1400">
                <a:ea typeface="맑은 고딕"/>
              </a:rPr>
              <a:t>맞는</a:t>
            </a:r>
            <a:r>
              <a:rPr lang="en-US" altLang="ko-KR" sz="1400" dirty="0">
                <a:ea typeface="맑은 고딕"/>
              </a:rPr>
              <a:t> </a:t>
            </a:r>
            <a:r>
              <a:rPr lang="ko-KR" altLang="en-US" sz="1400" b="1">
                <a:ea typeface="맑은 고딕"/>
              </a:rPr>
              <a:t>최적</a:t>
            </a:r>
            <a:r>
              <a:rPr lang="en-US" altLang="ko-KR" sz="1400" b="1" dirty="0">
                <a:ea typeface="맑은 고딕"/>
              </a:rPr>
              <a:t> </a:t>
            </a:r>
            <a:r>
              <a:rPr lang="ko-KR" altLang="en-US" sz="1400" b="1">
                <a:ea typeface="맑은 고딕"/>
              </a:rPr>
              <a:t>커널</a:t>
            </a:r>
            <a:r>
              <a:rPr lang="en-US" altLang="ko-KR" sz="1400" b="1" dirty="0">
                <a:ea typeface="맑은 고딕"/>
              </a:rPr>
              <a:t> </a:t>
            </a:r>
            <a:r>
              <a:rPr lang="ko-KR" altLang="en-US" sz="1400" b="1">
                <a:ea typeface="맑은 고딕"/>
              </a:rPr>
              <a:t>선택</a:t>
            </a:r>
            <a:endParaRPr lang="en-US" altLang="ko-KR" sz="1400" b="1" dirty="0">
              <a:ea typeface="맑은 고딕"/>
            </a:endParaRPr>
          </a:p>
          <a:p>
            <a:pPr marL="228600" indent="-228600">
              <a:buFont typeface=""/>
              <a:buChar char="•"/>
            </a:pPr>
            <a:r>
              <a:rPr lang="ko-KR" altLang="en-US" sz="1400" b="1">
                <a:ea typeface="맑은 고딕"/>
              </a:rPr>
              <a:t>출력</a:t>
            </a:r>
            <a:r>
              <a:rPr lang="en-US" sz="1400"/>
              <a:t>: .plan (serialized engine file)</a:t>
            </a:r>
            <a:endParaRPr lang="en-US" altLang="ko-KR" sz="1400" dirty="0">
              <a:ea typeface="맑은 고딕"/>
            </a:endParaRPr>
          </a:p>
          <a:p>
            <a:pPr marL="228600" indent="-228600">
              <a:buFont typeface=""/>
              <a:buChar char="•"/>
            </a:pPr>
            <a:r>
              <a:rPr lang="ko-KR" altLang="en-US" sz="1400" b="1">
                <a:ea typeface="맑은 고딕"/>
              </a:rPr>
              <a:t>사용</a:t>
            </a:r>
            <a:r>
              <a:rPr lang="en-US" altLang="ko-KR" sz="1400" b="1" dirty="0">
                <a:ea typeface="맑은 고딕"/>
              </a:rPr>
              <a:t> </a:t>
            </a:r>
            <a:r>
              <a:rPr lang="ko-KR" altLang="en-US" sz="1400" b="1">
                <a:ea typeface="맑은 고딕"/>
              </a:rPr>
              <a:t>시점</a:t>
            </a:r>
            <a:r>
              <a:rPr lang="en-US" sz="1400"/>
              <a:t>:</a:t>
            </a:r>
            <a:r>
              <a:rPr lang="en-US" altLang="ko-KR" sz="1400" dirty="0">
                <a:ea typeface="맑은 고딕"/>
              </a:rPr>
              <a:t> </a:t>
            </a:r>
            <a:r>
              <a:rPr lang="ko-KR" altLang="en-US" sz="1400">
                <a:ea typeface="맑은 고딕"/>
              </a:rPr>
              <a:t>배포</a:t>
            </a:r>
            <a:r>
              <a:rPr lang="en-US" altLang="ko-KR" sz="1400" dirty="0">
                <a:ea typeface="맑은 고딕"/>
              </a:rPr>
              <a:t> </a:t>
            </a:r>
            <a:r>
              <a:rPr lang="ko-KR" altLang="en-US" sz="1400">
                <a:ea typeface="맑은 고딕"/>
              </a:rPr>
              <a:t>전</a:t>
            </a:r>
            <a:r>
              <a:rPr lang="en-US" sz="1400" dirty="0"/>
              <a:t>,</a:t>
            </a:r>
            <a:r>
              <a:rPr lang="en-US" altLang="ko-KR" sz="1400" dirty="0">
                <a:ea typeface="맑은 고딕"/>
              </a:rPr>
              <a:t> </a:t>
            </a:r>
            <a:r>
              <a:rPr lang="ko-KR" altLang="en-US" sz="1400">
                <a:ea typeface="맑은 고딕"/>
              </a:rPr>
              <a:t>모델</a:t>
            </a:r>
            <a:r>
              <a:rPr lang="en-US" altLang="ko-KR" sz="1400" dirty="0">
                <a:ea typeface="맑은 고딕"/>
              </a:rPr>
              <a:t> </a:t>
            </a:r>
            <a:r>
              <a:rPr lang="ko-KR" altLang="en-US" sz="1400">
                <a:ea typeface="맑은 고딕"/>
              </a:rPr>
              <a:t>준비</a:t>
            </a:r>
            <a:r>
              <a:rPr lang="en-US" altLang="ko-KR" sz="1400" dirty="0">
                <a:ea typeface="맑은 고딕"/>
              </a:rPr>
              <a:t> </a:t>
            </a:r>
            <a:r>
              <a:rPr lang="ko-KR" altLang="en-US" sz="1400">
                <a:ea typeface="맑은 고딕"/>
              </a:rPr>
              <a:t>단계</a:t>
            </a:r>
            <a:r>
              <a:rPr lang="en-US" sz="1400" dirty="0"/>
              <a:t> </a:t>
            </a:r>
            <a:br>
              <a:rPr lang="en-US" sz="1400" dirty="0"/>
            </a:br>
            <a:r>
              <a:rPr lang="en-US" sz="1400"/>
              <a:t>(offline build</a:t>
            </a:r>
            <a:r>
              <a:rPr lang="en-US" sz="1400" dirty="0"/>
              <a:t>)</a:t>
            </a:r>
            <a:endParaRPr lang="en-US" sz="16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EF0E0FC-5553-9FD6-D180-E4ABE871B50C}"/>
              </a:ext>
            </a:extLst>
          </p:cNvPr>
          <p:cNvSpPr/>
          <p:nvPr/>
        </p:nvSpPr>
        <p:spPr>
          <a:xfrm>
            <a:off x="726393" y="1623700"/>
            <a:ext cx="5967813" cy="512035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778310C-DF24-F30C-C440-FB01B73F9168}"/>
              </a:ext>
            </a:extLst>
          </p:cNvPr>
          <p:cNvSpPr/>
          <p:nvPr/>
        </p:nvSpPr>
        <p:spPr>
          <a:xfrm>
            <a:off x="6801027" y="1616577"/>
            <a:ext cx="4871103" cy="513459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90DE72F-1C7F-FE51-0EFB-93CFE1EBF3D4}"/>
              </a:ext>
            </a:extLst>
          </p:cNvPr>
          <p:cNvSpPr txBox="1"/>
          <p:nvPr/>
        </p:nvSpPr>
        <p:spPr>
          <a:xfrm>
            <a:off x="2221906" y="1716280"/>
            <a:ext cx="262071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b="1"/>
              <a:t>Compiler</a:t>
            </a:r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95BB380-18DD-E80F-C3C5-CF9922E6B3B7}"/>
              </a:ext>
            </a:extLst>
          </p:cNvPr>
          <p:cNvSpPr txBox="1"/>
          <p:nvPr/>
        </p:nvSpPr>
        <p:spPr>
          <a:xfrm>
            <a:off x="7976074" y="1716279"/>
            <a:ext cx="262071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b="1"/>
              <a:t>Excutor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26276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932092-D6DB-D665-AADF-D03D57871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86" y="1929"/>
            <a:ext cx="12189150" cy="1325563"/>
          </a:xfrm>
        </p:spPr>
        <p:txBody>
          <a:bodyPr/>
          <a:lstStyle/>
          <a:p>
            <a:pPr algn="ctr"/>
            <a:r>
              <a:rPr lang="en-US" b="1"/>
              <a:t>Trtexec, TREx and Nsight System in Edge Pipeline</a:t>
            </a:r>
            <a:endParaRPr lang="en-US"/>
          </a:p>
        </p:txBody>
      </p:sp>
      <p:pic>
        <p:nvPicPr>
          <p:cNvPr id="3" name="Picture 2" descr="A diagram of a plan&#10;&#10;AI-generated content may be incorrect.">
            <a:extLst>
              <a:ext uri="{FF2B5EF4-FFF2-40B4-BE49-F238E27FC236}">
                <a16:creationId xmlns:a16="http://schemas.microsoft.com/office/drawing/2014/main" id="{E05D59A7-7B95-B3D5-D5F8-8218EB9F4B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84272"/>
            <a:ext cx="12192000" cy="2317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26323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574B38-8754-0E99-1FFD-010F6C3B74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9257" y="1929"/>
            <a:ext cx="12203393" cy="1325563"/>
          </a:xfrm>
        </p:spPr>
        <p:txBody>
          <a:bodyPr/>
          <a:lstStyle/>
          <a:p>
            <a:pPr algn="ctr"/>
            <a:r>
              <a:rPr lang="en-US" sz="3600" b="1" dirty="0"/>
              <a:t>Trtexec: Command-Line Wrapped Tool to </a:t>
            </a:r>
            <a:r>
              <a:rPr lang="en-US" sz="3600" b="1"/>
              <a:t>Utilize TensorRT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10F34E5-4515-B470-A2EB-8F0F001DA5F0}"/>
              </a:ext>
            </a:extLst>
          </p:cNvPr>
          <p:cNvSpPr txBox="1"/>
          <p:nvPr/>
        </p:nvSpPr>
        <p:spPr>
          <a:xfrm>
            <a:off x="1743011" y="1326080"/>
            <a:ext cx="9451647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28600" indent="-228600">
              <a:buFont typeface=""/>
              <a:buChar char="•"/>
            </a:pPr>
            <a:r>
              <a:rPr lang="en-US">
                <a:solidFill>
                  <a:srgbClr val="000000"/>
                </a:solidFill>
                <a:latin typeface="NVIDIA"/>
              </a:rPr>
              <a:t>It’s useful for </a:t>
            </a:r>
            <a:r>
              <a:rPr lang="en-US" b="1" i="1">
                <a:solidFill>
                  <a:srgbClr val="0070C0"/>
                </a:solidFill>
                <a:latin typeface="NVIDIA"/>
              </a:rPr>
              <a:t>benchmarking networks</a:t>
            </a:r>
            <a:r>
              <a:rPr lang="en-US" b="1">
                <a:solidFill>
                  <a:srgbClr val="0070C0"/>
                </a:solidFill>
                <a:latin typeface="NVIDIA"/>
              </a:rPr>
              <a:t> on random or user-provided input data</a:t>
            </a:r>
            <a:r>
              <a:rPr lang="en-US">
                <a:solidFill>
                  <a:srgbClr val="000000"/>
                </a:solidFill>
                <a:latin typeface="NVIDIA"/>
              </a:rPr>
              <a:t>.</a:t>
            </a:r>
          </a:p>
          <a:p>
            <a:pPr marL="228600" indent="-228600">
              <a:buFont typeface=""/>
              <a:buChar char="•"/>
            </a:pPr>
            <a:r>
              <a:rPr lang="en-US">
                <a:solidFill>
                  <a:srgbClr val="000000"/>
                </a:solidFill>
                <a:latin typeface="NVIDIA"/>
              </a:rPr>
              <a:t>It’s useful for </a:t>
            </a:r>
            <a:r>
              <a:rPr lang="en-US" b="1" i="1">
                <a:solidFill>
                  <a:srgbClr val="0070C0"/>
                </a:solidFill>
                <a:latin typeface="NVIDIA"/>
              </a:rPr>
              <a:t>generating serialized engines</a:t>
            </a:r>
            <a:r>
              <a:rPr lang="en-US" b="1">
                <a:solidFill>
                  <a:srgbClr val="0070C0"/>
                </a:solidFill>
                <a:latin typeface="NVIDIA"/>
              </a:rPr>
              <a:t> from models</a:t>
            </a:r>
            <a:r>
              <a:rPr lang="en-US">
                <a:solidFill>
                  <a:srgbClr val="0070C0"/>
                </a:solidFill>
                <a:latin typeface="NVIDIA"/>
              </a:rPr>
              <a:t>.</a:t>
            </a:r>
          </a:p>
          <a:p>
            <a:pPr marL="228600" indent="-228600">
              <a:buFont typeface=""/>
              <a:buChar char="•"/>
            </a:pPr>
            <a:r>
              <a:rPr lang="en-US">
                <a:solidFill>
                  <a:srgbClr val="000000"/>
                </a:solidFill>
                <a:latin typeface="NVIDIA"/>
              </a:rPr>
              <a:t>It’s useful for </a:t>
            </a:r>
            <a:r>
              <a:rPr lang="en-US" i="1">
                <a:solidFill>
                  <a:srgbClr val="000000"/>
                </a:solidFill>
                <a:latin typeface="NVIDIA"/>
              </a:rPr>
              <a:t>generating a serialized timing cache</a:t>
            </a:r>
            <a:r>
              <a:rPr lang="en-US">
                <a:solidFill>
                  <a:srgbClr val="000000"/>
                </a:solidFill>
                <a:latin typeface="NVIDIA"/>
              </a:rPr>
              <a:t> from the builder.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469B46E-CBB5-E3F1-BF11-2E7903BBC047}"/>
              </a:ext>
            </a:extLst>
          </p:cNvPr>
          <p:cNvSpPr txBox="1"/>
          <p:nvPr/>
        </p:nvSpPr>
        <p:spPr>
          <a:xfrm>
            <a:off x="3855578" y="2253241"/>
            <a:ext cx="714428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/>
              <a:t>예시</a:t>
            </a:r>
            <a:r>
              <a:rPr lang="en-US"/>
              <a:t>: trtexec --onnx=model.onnx --fp16</a:t>
            </a:r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4CF37101-7012-A10A-39C4-9AEE2CDBBB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5419036"/>
              </p:ext>
            </p:extLst>
          </p:nvPr>
        </p:nvGraphicFramePr>
        <p:xfrm>
          <a:off x="341831" y="3033756"/>
          <a:ext cx="5412291" cy="1481321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865831">
                  <a:extLst>
                    <a:ext uri="{9D8B030D-6E8A-4147-A177-3AD203B41FA5}">
                      <a16:colId xmlns:a16="http://schemas.microsoft.com/office/drawing/2014/main" val="2003093374"/>
                    </a:ext>
                  </a:extLst>
                </a:gridCol>
                <a:gridCol w="3546460">
                  <a:extLst>
                    <a:ext uri="{9D8B030D-6E8A-4147-A177-3AD203B41FA5}">
                      <a16:colId xmlns:a16="http://schemas.microsoft.com/office/drawing/2014/main" val="1468207210"/>
                    </a:ext>
                  </a:extLst>
                </a:gridCol>
              </a:tblGrid>
              <a:tr h="2194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/>
                        <a:t>옵션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/>
                        <a:t>설명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3818742"/>
                  </a:ext>
                </a:extLst>
              </a:tr>
              <a:tr h="2457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Courier New"/>
                        </a:rPr>
                        <a:t>--onnx=&lt;file&gt;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ONNX </a:t>
                      </a:r>
                      <a:r>
                        <a:rPr lang="ko-KR" altLang="en-US" sz="1000"/>
                        <a:t>모델 파일을 입력으로 사용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4298097"/>
                  </a:ext>
                </a:extLst>
              </a:tr>
              <a:tr h="2457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Courier New"/>
                        </a:rPr>
                        <a:t>--uff=&lt;file&gt;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UFF </a:t>
                      </a:r>
                      <a:r>
                        <a:rPr lang="ko-KR" altLang="en-US" sz="1000"/>
                        <a:t>모델 입력 </a:t>
                      </a:r>
                      <a:r>
                        <a:rPr lang="en-US" altLang="ko-KR" sz="1000"/>
                        <a:t>(</a:t>
                      </a:r>
                      <a:r>
                        <a:rPr lang="ko-KR" altLang="en-US" sz="1000"/>
                        <a:t>예전 </a:t>
                      </a:r>
                      <a:r>
                        <a:rPr lang="en-US" sz="1000"/>
                        <a:t>TensorFlow </a:t>
                      </a:r>
                      <a:r>
                        <a:rPr lang="ko-KR" altLang="en-US" sz="1000"/>
                        <a:t>변환용</a:t>
                      </a:r>
                      <a:r>
                        <a:rPr lang="en-US" altLang="ko-KR" sz="1000"/>
                        <a:t>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5073403"/>
                  </a:ext>
                </a:extLst>
              </a:tr>
              <a:tr h="2457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Courier New"/>
                        </a:rPr>
                        <a:t>--model=&lt;file&gt;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Caffe </a:t>
                      </a:r>
                      <a:r>
                        <a:rPr lang="ko-KR" altLang="en-US" sz="1000"/>
                        <a:t>모델 입력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1899824"/>
                  </a:ext>
                </a:extLst>
              </a:tr>
              <a:tr h="2545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Courier New"/>
                        </a:rPr>
                        <a:t>--saveEngine=&lt;file&gt;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/>
                        <a:t>변환된 </a:t>
                      </a:r>
                      <a:r>
                        <a:rPr lang="en-US" sz="1000"/>
                        <a:t>TensorRT </a:t>
                      </a:r>
                      <a:r>
                        <a:rPr lang="ko-KR" altLang="en-US" sz="1000"/>
                        <a:t>엔진을 저장할 파일명 지정 </a:t>
                      </a:r>
                      <a:r>
                        <a:rPr lang="en-US" altLang="ko-KR" sz="1000"/>
                        <a:t>(</a:t>
                      </a:r>
                      <a:r>
                        <a:rPr lang="en-US" altLang="ko-KR" sz="1000">
                          <a:latin typeface="Courier New"/>
                        </a:rPr>
                        <a:t>.</a:t>
                      </a:r>
                      <a:r>
                        <a:rPr lang="en-US" sz="1000">
                          <a:latin typeface="Courier New"/>
                        </a:rPr>
                        <a:t>plan</a:t>
                      </a:r>
                      <a:r>
                        <a:rPr lang="en-US" sz="1000"/>
                        <a:t>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9783495"/>
                  </a:ext>
                </a:extLst>
              </a:tr>
              <a:tr h="2457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Courier New"/>
                        </a:rPr>
                        <a:t>--loadEngine=&lt;file&gt;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/>
                        <a:t>이미 만들어진 엔진 파일을 로드해서 실행</a:t>
                      </a:r>
                      <a:r>
                        <a:rPr lang="en-US" altLang="ko-KR" sz="1000"/>
                        <a:t>/</a:t>
                      </a:r>
                      <a:r>
                        <a:rPr lang="ko-KR" altLang="en-US" sz="1000"/>
                        <a:t>프로파일링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4311257"/>
                  </a:ext>
                </a:extLst>
              </a:tr>
            </a:tbl>
          </a:graphicData>
        </a:graphic>
      </p:graphicFrame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E9209108-AF02-679B-AFE7-60354CD979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7524473"/>
              </p:ext>
            </p:extLst>
          </p:nvPr>
        </p:nvGraphicFramePr>
        <p:xfrm>
          <a:off x="249252" y="4956560"/>
          <a:ext cx="5597418" cy="14630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759605">
                  <a:extLst>
                    <a:ext uri="{9D8B030D-6E8A-4147-A177-3AD203B41FA5}">
                      <a16:colId xmlns:a16="http://schemas.microsoft.com/office/drawing/2014/main" val="4144733713"/>
                    </a:ext>
                  </a:extLst>
                </a:gridCol>
                <a:gridCol w="3837813">
                  <a:extLst>
                    <a:ext uri="{9D8B030D-6E8A-4147-A177-3AD203B41FA5}">
                      <a16:colId xmlns:a16="http://schemas.microsoft.com/office/drawing/2014/main" val="2933701883"/>
                    </a:ext>
                  </a:extLst>
                </a:gridCol>
              </a:tblGrid>
              <a:tr h="2229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/>
                        <a:t>옵션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/>
                        <a:t>설명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7098800"/>
                  </a:ext>
                </a:extLst>
              </a:tr>
              <a:tr h="2423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Courier New"/>
                        </a:rPr>
                        <a:t>--fp16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FP16 </a:t>
                      </a:r>
                      <a:r>
                        <a:rPr lang="ko-KR" altLang="en-US" sz="1000"/>
                        <a:t>모드 활성화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7265246"/>
                  </a:ext>
                </a:extLst>
              </a:tr>
              <a:tr h="2423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Courier New"/>
                        </a:rPr>
                        <a:t>--int8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INT8 </a:t>
                      </a:r>
                      <a:r>
                        <a:rPr lang="ko-KR" altLang="en-US" sz="1000"/>
                        <a:t>모드 활성화 </a:t>
                      </a:r>
                      <a:r>
                        <a:rPr lang="en-US" altLang="ko-KR" sz="1000"/>
                        <a:t>(</a:t>
                      </a:r>
                      <a:r>
                        <a:rPr lang="en-US" sz="1000"/>
                        <a:t>calibration </a:t>
                      </a:r>
                      <a:r>
                        <a:rPr lang="ko-KR" altLang="en-US" sz="1000"/>
                        <a:t>필요</a:t>
                      </a:r>
                      <a:r>
                        <a:rPr lang="en-US" altLang="ko-KR" sz="1000"/>
                        <a:t>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4662314"/>
                  </a:ext>
                </a:extLst>
              </a:tr>
              <a:tr h="2423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Courier New"/>
                        </a:rPr>
                        <a:t>--calib=&lt;file&gt;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INT8 calibration cache </a:t>
                      </a:r>
                      <a:r>
                        <a:rPr lang="ko-KR" altLang="en-US" sz="1000"/>
                        <a:t>파일 지정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5738368"/>
                  </a:ext>
                </a:extLst>
              </a:tr>
              <a:tr h="2423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Courier New"/>
                        </a:rPr>
                        <a:t>--best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/>
                        <a:t>가능한 최고의 최적화 조합을 자동으로 선택 </a:t>
                      </a:r>
                      <a:r>
                        <a:rPr lang="en-US" altLang="ko-KR" sz="1000"/>
                        <a:t>(</a:t>
                      </a:r>
                      <a:r>
                        <a:rPr lang="ko-KR" altLang="en-US" sz="1000"/>
                        <a:t>시간 오래 걸림</a:t>
                      </a:r>
                      <a:r>
                        <a:rPr lang="en-US" altLang="ko-KR" sz="1000"/>
                        <a:t>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1928896"/>
                  </a:ext>
                </a:extLst>
              </a:tr>
              <a:tr h="2423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Courier New"/>
                        </a:rPr>
                        <a:t>--sparsity=enable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/>
                        <a:t>구조적 </a:t>
                      </a:r>
                      <a:r>
                        <a:rPr lang="en-US" sz="1000"/>
                        <a:t>sparsity </a:t>
                      </a:r>
                      <a:r>
                        <a:rPr lang="ko-KR" altLang="en-US" sz="1000"/>
                        <a:t>최적화 사용 </a:t>
                      </a:r>
                      <a:r>
                        <a:rPr lang="en-US" altLang="ko-KR" sz="1000"/>
                        <a:t>(</a:t>
                      </a:r>
                      <a:r>
                        <a:rPr lang="en-US" sz="1000"/>
                        <a:t>Ampere </a:t>
                      </a:r>
                      <a:r>
                        <a:rPr lang="ko-KR" altLang="en-US" sz="1000"/>
                        <a:t>이상 </a:t>
                      </a:r>
                      <a:r>
                        <a:rPr lang="en-US" sz="1000"/>
                        <a:t>GPU</a:t>
                      </a:r>
                      <a:r>
                        <a:rPr lang="ko-KR" altLang="en-US" sz="1000"/>
                        <a:t>에서 가능</a:t>
                      </a:r>
                      <a:r>
                        <a:rPr lang="en-US" altLang="ko-KR" sz="1000"/>
                        <a:t>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7493234"/>
                  </a:ext>
                </a:extLst>
              </a:tr>
            </a:tbl>
          </a:graphicData>
        </a:graphic>
      </p:graphicFrame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ADBAF823-FC96-66D1-17BD-834284DF6E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1227671"/>
              </p:ext>
            </p:extLst>
          </p:nvPr>
        </p:nvGraphicFramePr>
        <p:xfrm>
          <a:off x="6224187" y="3033756"/>
          <a:ext cx="6259792" cy="29260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065233">
                  <a:extLst>
                    <a:ext uri="{9D8B030D-6E8A-4147-A177-3AD203B41FA5}">
                      <a16:colId xmlns:a16="http://schemas.microsoft.com/office/drawing/2014/main" val="812616570"/>
                    </a:ext>
                  </a:extLst>
                </a:gridCol>
                <a:gridCol w="4194559">
                  <a:extLst>
                    <a:ext uri="{9D8B030D-6E8A-4147-A177-3AD203B41FA5}">
                      <a16:colId xmlns:a16="http://schemas.microsoft.com/office/drawing/2014/main" val="330217093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/>
                        <a:t>옵션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/>
                        <a:t>설명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44943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Courier New"/>
                        </a:rPr>
                        <a:t>--iterations=N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N</a:t>
                      </a:r>
                      <a:r>
                        <a:rPr lang="ko-KR" altLang="en-US" sz="1000"/>
                        <a:t>회 반복 실행 후 평균값 계산 </a:t>
                      </a:r>
                      <a:r>
                        <a:rPr lang="en-US" altLang="ko-KR" sz="1000"/>
                        <a:t>(</a:t>
                      </a:r>
                      <a:r>
                        <a:rPr lang="ko-KR" altLang="en-US" sz="1000"/>
                        <a:t>기본 </a:t>
                      </a:r>
                      <a:r>
                        <a:rPr lang="en-US" altLang="ko-KR" sz="1000"/>
                        <a:t>10</a:t>
                      </a:r>
                      <a:r>
                        <a:rPr lang="ko-KR" altLang="en-US" sz="1000"/>
                        <a:t>회</a:t>
                      </a:r>
                      <a:r>
                        <a:rPr lang="en-US" altLang="ko-KR" sz="1000"/>
                        <a:t>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36510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Courier New"/>
                        </a:rPr>
                        <a:t>--duration=N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/>
                        <a:t>지정한 시간</a:t>
                      </a:r>
                      <a:r>
                        <a:rPr lang="en-US" altLang="ko-KR" sz="1000"/>
                        <a:t>(</a:t>
                      </a:r>
                      <a:r>
                        <a:rPr lang="ko-KR" altLang="en-US" sz="1000"/>
                        <a:t>초</a:t>
                      </a:r>
                      <a:r>
                        <a:rPr lang="en-US" altLang="ko-KR" sz="1000"/>
                        <a:t>) </a:t>
                      </a:r>
                      <a:r>
                        <a:rPr lang="ko-KR" altLang="en-US" sz="1000"/>
                        <a:t>동안 반복 실행 후 성능 측정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45784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Courier New"/>
                        </a:rPr>
                        <a:t>--warmUp=N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/>
                        <a:t>실제 측정 전에 워밍업 실행 횟수 지정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95472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Courier New"/>
                        </a:rPr>
                        <a:t>--avgRuns=N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/>
                        <a:t>평균낼 실행 횟수 지정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51207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Courier New"/>
                        </a:rPr>
                        <a:t>--streams=N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CUDA </a:t>
                      </a:r>
                      <a:r>
                        <a:rPr lang="ko-KR" altLang="en-US" sz="1000"/>
                        <a:t>스트림 개수 </a:t>
                      </a:r>
                      <a:r>
                        <a:rPr lang="en-US" altLang="ko-KR" sz="1000"/>
                        <a:t>(</a:t>
                      </a:r>
                      <a:r>
                        <a:rPr lang="ko-KR" altLang="en-US" sz="1000"/>
                        <a:t>멀티 스트림 벤치마킹</a:t>
                      </a:r>
                      <a:r>
                        <a:rPr lang="en-US" altLang="ko-KR" sz="1000"/>
                        <a:t>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53001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Courier New"/>
                        </a:rPr>
                        <a:t>--useCudaGraph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CUDA Graph </a:t>
                      </a:r>
                      <a:r>
                        <a:rPr lang="ko-KR" altLang="en-US" sz="1000"/>
                        <a:t>최적화 사용 </a:t>
                      </a:r>
                      <a:r>
                        <a:rPr lang="en-US" altLang="ko-KR" sz="1000"/>
                        <a:t>(</a:t>
                      </a:r>
                      <a:r>
                        <a:rPr lang="ko-KR" altLang="en-US" sz="1000"/>
                        <a:t>성능 향상 가능</a:t>
                      </a:r>
                      <a:r>
                        <a:rPr lang="en-US" altLang="ko-KR" sz="1000"/>
                        <a:t>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85980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Courier New"/>
                        </a:rPr>
                        <a:t>--dumpProfile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/>
                        <a:t>레이어별 실행 시간 출력 </a:t>
                      </a:r>
                      <a:r>
                        <a:rPr lang="en-US" altLang="ko-KR" sz="1000"/>
                        <a:t>(</a:t>
                      </a:r>
                      <a:r>
                        <a:rPr lang="ko-KR" altLang="en-US" sz="1000"/>
                        <a:t>어디가 </a:t>
                      </a:r>
                      <a:r>
                        <a:rPr lang="en-US" sz="1000"/>
                        <a:t>bottleneck</a:t>
                      </a:r>
                      <a:r>
                        <a:rPr lang="ko-KR" altLang="en-US" sz="1000"/>
                        <a:t>인지 확인</a:t>
                      </a:r>
                      <a:r>
                        <a:rPr lang="en-US" altLang="ko-KR" sz="1000"/>
                        <a:t>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33485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Courier New"/>
                        </a:rPr>
                        <a:t>--dumpLayerInfo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/>
                        <a:t>레이어별 </a:t>
                      </a:r>
                      <a:r>
                        <a:rPr lang="en-US" sz="1000"/>
                        <a:t>shape, precision, </a:t>
                      </a:r>
                      <a:r>
                        <a:rPr lang="ko-KR" altLang="en-US" sz="1000"/>
                        <a:t>연산 정보 출력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56176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Courier New"/>
                        </a:rPr>
                        <a:t>--exportTimes=&lt;file&gt;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/>
                        <a:t>실행 시간을 </a:t>
                      </a:r>
                      <a:r>
                        <a:rPr lang="en-US" sz="1000"/>
                        <a:t>CSV</a:t>
                      </a:r>
                      <a:r>
                        <a:rPr lang="ko-KR" altLang="en-US" sz="1000"/>
                        <a:t>로 저장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58358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Courier New"/>
                        </a:rPr>
                        <a:t>--exportProfile=&lt;file&gt;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/>
                        <a:t>프로파일링 결과를 </a:t>
                      </a:r>
                      <a:r>
                        <a:rPr lang="en-US" sz="1000"/>
                        <a:t>CSV</a:t>
                      </a:r>
                      <a:r>
                        <a:rPr lang="ko-KR" altLang="en-US" sz="1000"/>
                        <a:t>로 저장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21750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Courier New"/>
                        </a:rPr>
                        <a:t>--separateProfileRun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/>
                        <a:t>프로파일링 실행을 별도로 분리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7235510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13034ED6-0AFF-1F68-A86B-DB5ABBE2995B}"/>
              </a:ext>
            </a:extLst>
          </p:cNvPr>
          <p:cNvSpPr txBox="1"/>
          <p:nvPr/>
        </p:nvSpPr>
        <p:spPr>
          <a:xfrm>
            <a:off x="6227035" y="2666287"/>
            <a:ext cx="281441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>
                <a:ea typeface="맑은 고딕"/>
              </a:rPr>
              <a:t>밴치마킹 옵션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BD412D3-1151-9E27-0733-28BB464F3907}"/>
              </a:ext>
            </a:extLst>
          </p:cNvPr>
          <p:cNvSpPr txBox="1"/>
          <p:nvPr/>
        </p:nvSpPr>
        <p:spPr>
          <a:xfrm>
            <a:off x="344679" y="2623557"/>
            <a:ext cx="281441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>
                <a:ea typeface="맑은 고딕"/>
              </a:rPr>
              <a:t>입력관련 옵션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70D4EE6-F201-5539-3556-1CD32DB2C019}"/>
              </a:ext>
            </a:extLst>
          </p:cNvPr>
          <p:cNvSpPr txBox="1"/>
          <p:nvPr/>
        </p:nvSpPr>
        <p:spPr>
          <a:xfrm>
            <a:off x="252099" y="4589089"/>
            <a:ext cx="281441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>
                <a:ea typeface="맑은 고딕"/>
              </a:rPr>
              <a:t>정밀도 및 최적화 옵션</a:t>
            </a:r>
          </a:p>
        </p:txBody>
      </p:sp>
    </p:spTree>
    <p:extLst>
      <p:ext uri="{BB962C8B-B14F-4D97-AF65-F5344CB8AC3E}">
        <p14:creationId xmlns:p14="http://schemas.microsoft.com/office/powerpoint/2010/main" val="23781877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E1EE48-C6FD-04B3-4CB9-069725E19E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5" y="1929"/>
            <a:ext cx="12163425" cy="1268413"/>
          </a:xfrm>
        </p:spPr>
        <p:txBody>
          <a:bodyPr/>
          <a:lstStyle/>
          <a:p>
            <a:pPr algn="ctr"/>
            <a:r>
              <a:rPr lang="ko-KR" altLang="en-US" b="1">
                <a:ea typeface="맑은 고딕"/>
              </a:rPr>
              <a:t>Exploring NVIDIA TensorRT Engines with TREx</a:t>
            </a:r>
            <a:endParaRPr lang="en-US" altLang="ko-KR" b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12613B6-F7F8-97A6-E258-C6228C21F737}"/>
              </a:ext>
            </a:extLst>
          </p:cNvPr>
          <p:cNvSpPr txBox="1"/>
          <p:nvPr/>
        </p:nvSpPr>
        <p:spPr>
          <a:xfrm>
            <a:off x="1431064" y="3425083"/>
            <a:ext cx="1073921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ko-KR" altLang="en-US">
                <a:ea typeface="맑은 고딕"/>
              </a:rPr>
              <a:t>트렉스는 파이썬 패키지 모듈이며 변환된 플랜과 추론 과정에서 추출된 생성물을 분석</a:t>
            </a:r>
            <a:endParaRPr lang="en-US" dirty="0"/>
          </a:p>
        </p:txBody>
      </p:sp>
      <p:pic>
        <p:nvPicPr>
          <p:cNvPr id="4" name="Picture 3" descr="Workflow diagram shows that TREx uses JSON files to capture metadata from the engine building and profiling stages.">
            <a:extLst>
              <a:ext uri="{FF2B5EF4-FFF2-40B4-BE49-F238E27FC236}">
                <a16:creationId xmlns:a16="http://schemas.microsoft.com/office/drawing/2014/main" id="{FE9A6A66-74B2-7BDE-35EA-F67CE8B121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0152" y="1107245"/>
            <a:ext cx="9791696" cy="2128910"/>
          </a:xfrm>
          <a:prstGeom prst="rect">
            <a:avLst/>
          </a:prstGeom>
        </p:spPr>
      </p:pic>
      <p:pic>
        <p:nvPicPr>
          <p:cNvPr id="5" name="Picture 4" descr="Graph of precision per layer view of latency average time vs name for ResNet18 QAT">
            <a:extLst>
              <a:ext uri="{FF2B5EF4-FFF2-40B4-BE49-F238E27FC236}">
                <a16:creationId xmlns:a16="http://schemas.microsoft.com/office/drawing/2014/main" id="{41C24C80-7ABF-537E-2D61-88BED5C2DA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225" y="3961134"/>
            <a:ext cx="4514849" cy="2440932"/>
          </a:xfrm>
          <a:prstGeom prst="rect">
            <a:avLst/>
          </a:prstGeom>
        </p:spPr>
      </p:pic>
      <p:pic>
        <p:nvPicPr>
          <p:cNvPr id="6" name="Picture 5" descr="Screenshot showing the output of the convolution linter in table format.">
            <a:extLst>
              <a:ext uri="{FF2B5EF4-FFF2-40B4-BE49-F238E27FC236}">
                <a16:creationId xmlns:a16="http://schemas.microsoft.com/office/drawing/2014/main" id="{345E8845-DEA1-60B3-9E89-F549534586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1076" y="4408369"/>
            <a:ext cx="7229473" cy="1851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88142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9D688-F942-A144-CAB1-1A4ABE6368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175"/>
            <a:ext cx="10515600" cy="1325563"/>
          </a:xfrm>
        </p:spPr>
        <p:txBody>
          <a:bodyPr/>
          <a:lstStyle/>
          <a:p>
            <a:pPr algn="ctr"/>
            <a:r>
              <a:rPr lang="en-US" b="1"/>
              <a:t>NVIDIA Nsight Systems</a:t>
            </a:r>
            <a:endParaRPr lang="en-US"/>
          </a:p>
        </p:txBody>
      </p:sp>
      <p:pic>
        <p:nvPicPr>
          <p:cNvPr id="3" name="Picture 2" descr="Nsight Systems can make high-performance games with beautiful graphics">
            <a:extLst>
              <a:ext uri="{FF2B5EF4-FFF2-40B4-BE49-F238E27FC236}">
                <a16:creationId xmlns:a16="http://schemas.microsoft.com/office/drawing/2014/main" id="{AB4DA65B-F2E5-43E4-7668-591B60C3D3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2105" y="1745491"/>
            <a:ext cx="2959100" cy="1696361"/>
          </a:xfrm>
          <a:prstGeom prst="rect">
            <a:avLst/>
          </a:prstGeom>
        </p:spPr>
      </p:pic>
      <p:pic>
        <p:nvPicPr>
          <p:cNvPr id="4" name="Picture 3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552A71FE-70B1-7336-5390-A7CFD4693F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277" y="3427185"/>
            <a:ext cx="5769731" cy="3172581"/>
          </a:xfrm>
          <a:prstGeom prst="rect">
            <a:avLst/>
          </a:prstGeom>
        </p:spPr>
      </p:pic>
      <p:pic>
        <p:nvPicPr>
          <p:cNvPr id="5" name="Picture 4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C27F3548-5AA1-8568-FC75-D01C88023D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9580" y="1741714"/>
            <a:ext cx="5759982" cy="486228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DC7D393-07C2-1775-D2E3-AC8401C7F4D5}"/>
              </a:ext>
            </a:extLst>
          </p:cNvPr>
          <p:cNvSpPr txBox="1"/>
          <p:nvPr/>
        </p:nvSpPr>
        <p:spPr>
          <a:xfrm>
            <a:off x="200121" y="939030"/>
            <a:ext cx="11745575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ko-KR" altLang="en-US" dirty="0">
                <a:ea typeface="맑은 고딕"/>
              </a:rPr>
              <a:t>엔사이트 시스템 CLI는 다양한 옵선을 제공하여, CPU와 GPU의 실행 타이밍, 메모리 사용량, API 호출 등의 정보를 </a:t>
            </a:r>
            <a:r>
              <a:rPr lang="ko-KR" altLang="en-US">
                <a:ea typeface="맑은 고딕"/>
              </a:rPr>
              <a:t>수집해 성능상의 병목을 파악할 수 있음.</a:t>
            </a: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416332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AI Study</vt:lpstr>
      <vt:lpstr>Machine Learning Operations (MLOps)</vt:lpstr>
      <vt:lpstr>Edge Devices에서 AI 연산</vt:lpstr>
      <vt:lpstr>TensorRT in Edge Pipeline</vt:lpstr>
      <vt:lpstr>Trtexec, TREx and Nsight System in Edge Pipeline</vt:lpstr>
      <vt:lpstr>Trtexec: Command-Line Wrapped Tool to Utilize TensorRT</vt:lpstr>
      <vt:lpstr>Exploring NVIDIA TensorRT Engines with TREx</vt:lpstr>
      <vt:lpstr>NVIDIA Nsight Systems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457</cp:revision>
  <dcterms:created xsi:type="dcterms:W3CDTF">2025-08-27T13:10:19Z</dcterms:created>
  <dcterms:modified xsi:type="dcterms:W3CDTF">2025-12-31T02:07:42Z</dcterms:modified>
</cp:coreProperties>
</file>