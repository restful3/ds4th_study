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3" r:id="rId16"/>
    <p:sldId id="275" r:id="rId17"/>
    <p:sldId id="274" r:id="rId18"/>
    <p:sldId id="280" r:id="rId19"/>
    <p:sldId id="276" r:id="rId20"/>
    <p:sldId id="277" r:id="rId21"/>
    <p:sldId id="278" r:id="rId22"/>
    <p:sldId id="279" r:id="rId23"/>
    <p:sldId id="27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BD77F6-766B-D3B9-78DA-CC9EB57E122E}" v="2475" dt="2025-03-07T13:08:33.505"/>
    <p1510:client id="{B522C513-96F2-D7B6-D822-94F347817798}" v="4986" dt="2025-03-08T00:43:28.097"/>
    <p1510:client id="{C7D30793-ABB2-E3EC-F11E-EF514E0CDC26}" v="1022" dt="2025-03-07T16:07:01.9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7.xml" Id="rId8" /><Relationship Type="http://schemas.openxmlformats.org/officeDocument/2006/relationships/slide" Target="slides/slide12.xml" Id="rId13" /><Relationship Type="http://schemas.openxmlformats.org/officeDocument/2006/relationships/slide" Target="slides/slide17.xml" Id="rId18" /><Relationship Type="http://schemas.openxmlformats.org/officeDocument/2006/relationships/viewProps" Target="viewProps.xml" Id="rId26" /><Relationship Type="http://schemas.openxmlformats.org/officeDocument/2006/relationships/slide" Target="slides/slide2.xml" Id="rId3" /><Relationship Type="http://schemas.openxmlformats.org/officeDocument/2006/relationships/slide" Target="slides/slide20.xml" Id="rId21" /><Relationship Type="http://schemas.openxmlformats.org/officeDocument/2006/relationships/slide" Target="slides/slide6.xml" Id="rId7" /><Relationship Type="http://schemas.openxmlformats.org/officeDocument/2006/relationships/slide" Target="slides/slide11.xml" Id="rId12" /><Relationship Type="http://schemas.openxmlformats.org/officeDocument/2006/relationships/slide" Target="slides/slide16.xml" Id="rId17" /><Relationship Type="http://schemas.openxmlformats.org/officeDocument/2006/relationships/presProps" Target="presProps.xml" Id="rId25" /><Relationship Type="http://schemas.openxmlformats.org/officeDocument/2006/relationships/slide" Target="slides/slide1.xml" Id="rId2" /><Relationship Type="http://schemas.openxmlformats.org/officeDocument/2006/relationships/slide" Target="slides/slide15.xml" Id="rId16" /><Relationship Type="http://schemas.openxmlformats.org/officeDocument/2006/relationships/slide" Target="slides/slide19.xml" Id="rId20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slide" Target="slides/slide10.xml" Id="rId11" /><Relationship Type="http://schemas.openxmlformats.org/officeDocument/2006/relationships/slide" Target="slides/slide23.xml" Id="rId24" /><Relationship Type="http://schemas.openxmlformats.org/officeDocument/2006/relationships/slide" Target="slides/slide4.xml" Id="rId5" /><Relationship Type="http://schemas.openxmlformats.org/officeDocument/2006/relationships/slide" Target="slides/slide14.xml" Id="rId15" /><Relationship Type="http://schemas.openxmlformats.org/officeDocument/2006/relationships/slide" Target="slides/slide22.xml" Id="rId23" /><Relationship Type="http://schemas.openxmlformats.org/officeDocument/2006/relationships/tableStyles" Target="tableStyles.xml" Id="rId28" /><Relationship Type="http://schemas.openxmlformats.org/officeDocument/2006/relationships/slide" Target="slides/slide9.xml" Id="rId10" /><Relationship Type="http://schemas.openxmlformats.org/officeDocument/2006/relationships/slide" Target="slides/slide18.xml" Id="rId19" /><Relationship Type="http://schemas.openxmlformats.org/officeDocument/2006/relationships/slide" Target="slides/slide3.xml" Id="rId4" /><Relationship Type="http://schemas.openxmlformats.org/officeDocument/2006/relationships/slide" Target="slides/slide8.xml" Id="rId9" /><Relationship Type="http://schemas.openxmlformats.org/officeDocument/2006/relationships/slide" Target="slides/slide13.xml" Id="rId14" /><Relationship Type="http://schemas.openxmlformats.org/officeDocument/2006/relationships/slide" Target="slides/slide21.xml" Id="rId22" /><Relationship Type="http://schemas.openxmlformats.org/officeDocument/2006/relationships/theme" Target="theme/theme1.xml" Id="rId27" /><Relationship Type="http://schemas.microsoft.com/office/2015/10/relationships/revisionInfo" Target="revisionInfo.xml" Id="rId30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5723" y="861307"/>
            <a:ext cx="9794758" cy="2387600"/>
          </a:xfrm>
        </p:spPr>
        <p:txBody>
          <a:bodyPr>
            <a:normAutofit fontScale="90000"/>
          </a:bodyPr>
          <a:lstStyle/>
          <a:p>
            <a:r>
              <a:rPr lang="en-US"/>
              <a:t>An Overview of Language Models:</a:t>
            </a:r>
            <a:br>
              <a:rPr lang="en-US"/>
            </a:br>
            <a:r>
              <a:rPr lang="en-US"/>
              <a:t>Recent developments &amp; Outlook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4611" y="5429890"/>
            <a:ext cx="9144000" cy="7046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Sung-Jin Choi</a:t>
            </a:r>
          </a:p>
        </p:txBody>
      </p:sp>
      <p:pic>
        <p:nvPicPr>
          <p:cNvPr id="4" name="Picture 3" descr="A close up of a name&#10;&#10;AI-generated content may be incorrect.">
            <a:extLst>
              <a:ext uri="{FF2B5EF4-FFF2-40B4-BE49-F238E27FC236}">
                <a16:creationId xmlns:a16="http://schemas.microsoft.com/office/drawing/2014/main" id="{95456001-48C1-DE42-9995-87CEEE088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2" y="3428823"/>
            <a:ext cx="7507112" cy="165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C4A50-AD63-0A03-B956-6719E2CFC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70"/>
            <a:ext cx="10515600" cy="1325563"/>
          </a:xfrm>
        </p:spPr>
        <p:txBody>
          <a:bodyPr/>
          <a:lstStyle/>
          <a:p>
            <a:pPr algn="ctr"/>
            <a:r>
              <a:rPr lang="en-US"/>
              <a:t>Abstract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95422-F1C2-8543-B1A5-4790E9D6ACDF}"/>
              </a:ext>
            </a:extLst>
          </p:cNvPr>
          <p:cNvSpPr txBox="1"/>
          <p:nvPr/>
        </p:nvSpPr>
        <p:spPr>
          <a:xfrm>
            <a:off x="598241" y="1919110"/>
            <a:ext cx="11296923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Language modeling studies the probability distributions over strings of texts.</a:t>
            </a:r>
          </a:p>
          <a:p>
            <a:r>
              <a:rPr lang="en-US"/>
              <a:t>It is one of the most fundamental tasks in natural language processing (NLP).</a:t>
            </a:r>
          </a:p>
          <a:p>
            <a:r>
              <a:rPr lang="en-US"/>
              <a:t>It has been widely used in text generation, speech recognition, machine translation, etc.</a:t>
            </a:r>
          </a:p>
          <a:p>
            <a:r>
              <a:rPr lang="en-US" b="1"/>
              <a:t>Conventional languge models (CLMs) </a:t>
            </a:r>
            <a:r>
              <a:rPr lang="en-US"/>
              <a:t>aim to </a:t>
            </a:r>
            <a:r>
              <a:rPr lang="en-US">
                <a:highlight>
                  <a:srgbClr val="FFFF00"/>
                </a:highlight>
              </a:rPr>
              <a:t>predict the probability of inguistic sequences in a causal manner</a:t>
            </a:r>
            <a:r>
              <a:rPr lang="en-US"/>
              <a:t>,</a:t>
            </a:r>
          </a:p>
          <a:p>
            <a:r>
              <a:rPr lang="en-US"/>
              <a:t>while </a:t>
            </a:r>
            <a:r>
              <a:rPr lang="en-US" b="1"/>
              <a:t>pre-trained language models (PLMs)</a:t>
            </a:r>
            <a:r>
              <a:rPr lang="en-US"/>
              <a:t> cover broader concepts and can be used i</a:t>
            </a:r>
            <a:r>
              <a:rPr lang="en-US">
                <a:highlight>
                  <a:srgbClr val="FFFF00"/>
                </a:highlight>
              </a:rPr>
              <a:t>n both causal sequential modeling and fine-tuning for downstream applications</a:t>
            </a:r>
            <a:r>
              <a:rPr lang="en-US"/>
              <a:t>. </a:t>
            </a:r>
          </a:p>
          <a:p>
            <a:r>
              <a:rPr lang="en-US" b="1"/>
              <a:t>PLMs</a:t>
            </a:r>
            <a:r>
              <a:rPr lang="en-US"/>
              <a:t> have their own training</a:t>
            </a:r>
            <a:r>
              <a:rPr lang="en-US">
                <a:highlight>
                  <a:srgbClr val="FFFF00"/>
                </a:highlight>
              </a:rPr>
              <a:t> paradigms (usually self-supervied)</a:t>
            </a:r>
            <a:r>
              <a:rPr lang="en-US"/>
              <a:t> and serve as foundation models in models in modern NLP systems. </a:t>
            </a:r>
          </a:p>
          <a:p>
            <a:r>
              <a:rPr lang="en-US"/>
              <a:t>This overview paper provides an intro to both CLMs and PLMs from </a:t>
            </a:r>
            <a:r>
              <a:rPr lang="en-US" b="1"/>
              <a:t>five aspects</a:t>
            </a:r>
            <a:r>
              <a:rPr lang="en-US"/>
              <a:t>, i.e., </a:t>
            </a:r>
            <a:r>
              <a:rPr lang="en-US">
                <a:highlight>
                  <a:srgbClr val="FFFF00"/>
                </a:highlight>
              </a:rPr>
              <a:t>linguistic units, architectures, training methods, evalution methods, and applications</a:t>
            </a:r>
            <a:r>
              <a:rPr lang="en-US"/>
              <a:t>. </a:t>
            </a:r>
            <a:br>
              <a:rPr lang="en-US"/>
            </a:br>
            <a:r>
              <a:rPr lang="en-US"/>
              <a:t>Furthermore, we discouss the relationship between CLMs and PLMs and shed light on the future directions of language modleing in the pre-trained era.  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48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3034D-F543-601A-BA16-64E47AC07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64"/>
            <a:ext cx="10515600" cy="1325563"/>
          </a:xfrm>
        </p:spPr>
        <p:txBody>
          <a:bodyPr/>
          <a:lstStyle/>
          <a:p>
            <a:pPr algn="ctr"/>
            <a:r>
              <a:rPr lang="en-US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376AA4-D31E-F09C-F12A-C3053DCD2736}"/>
              </a:ext>
            </a:extLst>
          </p:cNvPr>
          <p:cNvSpPr txBox="1"/>
          <p:nvPr/>
        </p:nvSpPr>
        <p:spPr>
          <a:xfrm>
            <a:off x="702735" y="1619956"/>
            <a:ext cx="10652475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Language modeling</a:t>
            </a:r>
            <a:r>
              <a:rPr lang="en-US"/>
              <a:t> studies th</a:t>
            </a:r>
            <a:r>
              <a:rPr lang="en-US">
                <a:highlight>
                  <a:srgbClr val="FFFF00"/>
                </a:highlight>
              </a:rPr>
              <a:t>e probability distributions over a sequence of linguistic units</a:t>
            </a:r>
            <a:r>
              <a:rPr lang="en-US"/>
              <a:t>, such as </a:t>
            </a:r>
            <a:r>
              <a:rPr lang="en-US">
                <a:highlight>
                  <a:srgbClr val="FFFF00"/>
                </a:highlight>
              </a:rPr>
              <a:t>words</a:t>
            </a:r>
            <a:r>
              <a:rPr lang="en-US"/>
              <a:t>. It is one of the most fundamental tasks and long-standing research topics in natural language processing (NLP). </a:t>
            </a:r>
          </a:p>
          <a:p>
            <a:endParaRPr lang="en-US"/>
          </a:p>
          <a:p>
            <a:r>
              <a:rPr lang="en-US"/>
              <a:t>The developed language models (LMs) find</a:t>
            </a:r>
            <a:r>
              <a:rPr lang="en-US" b="1"/>
              <a:t> applications</a:t>
            </a:r>
            <a:r>
              <a:rPr lang="en-US"/>
              <a:t> in many computational linguistic problems such as </a:t>
            </a:r>
            <a:r>
              <a:rPr lang="en-US" b="1"/>
              <a:t>text generation</a:t>
            </a:r>
            <a:r>
              <a:rPr lang="en-US"/>
              <a:t>, </a:t>
            </a:r>
            <a:r>
              <a:rPr lang="en-US" b="1"/>
              <a:t>machine translation</a:t>
            </a:r>
            <a:r>
              <a:rPr lang="en-US"/>
              <a:t>, </a:t>
            </a:r>
            <a:r>
              <a:rPr lang="en-US" b="1"/>
              <a:t>speech recognition,</a:t>
            </a:r>
            <a:r>
              <a:rPr lang="en-US"/>
              <a:t> </a:t>
            </a:r>
            <a:r>
              <a:rPr lang="en-US" b="1"/>
              <a:t>natural language generation</a:t>
            </a:r>
            <a:r>
              <a:rPr lang="en-US"/>
              <a:t>, </a:t>
            </a:r>
            <a:r>
              <a:rPr lang="en-US" b="1"/>
              <a:t>question-and-answer systems</a:t>
            </a:r>
            <a:r>
              <a:rPr lang="en-US"/>
              <a:t>, etc.</a:t>
            </a:r>
          </a:p>
          <a:p>
            <a:endParaRPr lang="en-US"/>
          </a:p>
          <a:p>
            <a:r>
              <a:rPr lang="en-US"/>
              <a:t>There are </a:t>
            </a:r>
            <a:r>
              <a:rPr lang="en-US" b="1"/>
              <a:t>two major approaches to language modeling</a:t>
            </a:r>
            <a:r>
              <a:rPr lang="en-US"/>
              <a:t>:</a:t>
            </a:r>
          </a:p>
          <a:p>
            <a:pPr marL="342900" indent="-342900">
              <a:buAutoNum type="arabicParenR"/>
            </a:pPr>
            <a:r>
              <a:rPr lang="en-US"/>
              <a:t>The </a:t>
            </a:r>
            <a:r>
              <a:rPr lang="en-US" b="1"/>
              <a:t>statistical approach</a:t>
            </a:r>
            <a:r>
              <a:rPr lang="en-US"/>
              <a:t> based on a relatively small corpus set</a:t>
            </a:r>
          </a:p>
          <a:p>
            <a:pPr marL="342900" indent="-342900">
              <a:buAutoNum type="arabicParenR"/>
            </a:pPr>
            <a:r>
              <a:rPr lang="en-US"/>
              <a:t>The </a:t>
            </a:r>
            <a:r>
              <a:rPr lang="en-US" b="1"/>
              <a:t>data-driven approach</a:t>
            </a:r>
            <a:r>
              <a:rPr lang="en-US"/>
              <a:t> based on a significantly larger corpus set.</a:t>
            </a:r>
          </a:p>
          <a:p>
            <a:endParaRPr lang="en-US"/>
          </a:p>
          <a:p>
            <a:r>
              <a:rPr lang="en-US" b="1"/>
              <a:t>Conventional language models (CLMs) </a:t>
            </a:r>
            <a:r>
              <a:rPr lang="en-US"/>
              <a:t>predict the probability of linguistic sequences in a casual manner.</a:t>
            </a:r>
            <a:br>
              <a:rPr lang="en-US"/>
            </a:br>
            <a:r>
              <a:rPr lang="en-US"/>
              <a:t>They can be learned by both laguage modeling approaches. </a:t>
            </a:r>
            <a:br>
              <a:rPr lang="en-US"/>
            </a:br>
            <a:br>
              <a:rPr lang="en-US"/>
            </a:br>
            <a:r>
              <a:rPr lang="en-US" b="1"/>
              <a:t>The data-drivedn approach</a:t>
            </a:r>
            <a:r>
              <a:rPr lang="en-US"/>
              <a:t> has become</a:t>
            </a:r>
            <a:r>
              <a:rPr lang="en-US">
                <a:highlight>
                  <a:srgbClr val="FFFF00"/>
                </a:highlight>
              </a:rPr>
              <a:t> mainstream</a:t>
            </a:r>
            <a:r>
              <a:rPr lang="en-US"/>
              <a:t> nowadays. It exploits </a:t>
            </a:r>
            <a:r>
              <a:rPr lang="en-US">
                <a:highlight>
                  <a:srgbClr val="FFFF00"/>
                </a:highlight>
              </a:rPr>
              <a:t>a large number of corpora to train neural-network models, leading to pre-trained language models </a:t>
            </a:r>
            <a:r>
              <a:rPr lang="en-US"/>
              <a:t>(PLMs). PLMs are then </a:t>
            </a:r>
            <a:r>
              <a:rPr lang="en-US" b="1"/>
              <a:t>fine-turned with task-specific datasets</a:t>
            </a:r>
            <a:r>
              <a:rPr lang="en-US"/>
              <a:t> and </a:t>
            </a:r>
            <a:r>
              <a:rPr lang="en-US" b="1"/>
              <a:t>objectives for downstream applications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23448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C86AC-DE99-A0FE-B565-1C680C2E4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64"/>
            <a:ext cx="10515600" cy="1325563"/>
          </a:xfrm>
        </p:spPr>
        <p:txBody>
          <a:bodyPr/>
          <a:lstStyle/>
          <a:p>
            <a:pPr algn="ctr"/>
            <a:r>
              <a:rPr lang="en-US"/>
              <a:t>Conventional Language Models (CLMs)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339F29-C551-5113-C479-7EC1CF06A588}"/>
              </a:ext>
            </a:extLst>
          </p:cNvPr>
          <p:cNvSpPr txBox="1"/>
          <p:nvPr/>
        </p:nvSpPr>
        <p:spPr>
          <a:xfrm>
            <a:off x="987777" y="1051277"/>
            <a:ext cx="100471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The goal of CLMs</a:t>
            </a:r>
            <a:r>
              <a:rPr lang="en-US"/>
              <a:t> is to </a:t>
            </a:r>
            <a:r>
              <a:rPr lang="en-US">
                <a:highlight>
                  <a:srgbClr val="FFFF00"/>
                </a:highlight>
              </a:rPr>
              <a:t>model the probability distributions over sequences of lingusitic units</a:t>
            </a:r>
            <a:r>
              <a:rPr lang="en-US"/>
              <a:t>:</a:t>
            </a:r>
          </a:p>
        </p:txBody>
      </p:sp>
      <p:pic>
        <p:nvPicPr>
          <p:cNvPr id="4" name="Picture 3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6BAE4C76-11C2-9866-5893-069C650BD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708" y="1475669"/>
            <a:ext cx="2381250" cy="5905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DDFCCB-37B0-E274-04AF-09585CE8B396}"/>
              </a:ext>
            </a:extLst>
          </p:cNvPr>
          <p:cNvSpPr txBox="1"/>
          <p:nvPr/>
        </p:nvSpPr>
        <p:spPr>
          <a:xfrm>
            <a:off x="232833" y="2208388"/>
            <a:ext cx="11867444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where u</a:t>
            </a:r>
            <a:r>
              <a:rPr lang="en-US" baseline="-25000"/>
              <a:t>i</a:t>
            </a:r>
            <a:r>
              <a:rPr lang="en-US"/>
              <a:t> can be ethier a charcter, a word, a phrase, or othe linguistic units.</a:t>
            </a:r>
          </a:p>
          <a:p>
            <a:endParaRPr lang="en-US"/>
          </a:p>
          <a:p>
            <a:endParaRPr lang="en-US"/>
          </a:p>
          <a:p>
            <a:r>
              <a:rPr lang="en-US" b="1"/>
              <a:t>CLMs</a:t>
            </a:r>
            <a:r>
              <a:rPr lang="en-US"/>
              <a:t> attempts to </a:t>
            </a:r>
            <a:r>
              <a:rPr lang="en-US">
                <a:highlight>
                  <a:srgbClr val="FFFF00"/>
                </a:highlight>
              </a:rPr>
              <a:t>predict the next linguistic unit</a:t>
            </a:r>
            <a:r>
              <a:rPr lang="en-US"/>
              <a:t> in a text sequence given its preceding contexts: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 b="1"/>
              <a:t>CLMs</a:t>
            </a:r>
            <a:r>
              <a:rPr lang="en-US"/>
              <a:t> are also called </a:t>
            </a:r>
            <a:r>
              <a:rPr lang="en-US">
                <a:highlight>
                  <a:srgbClr val="FFFF00"/>
                </a:highlight>
              </a:rPr>
              <a:t>auto-regressive language models</a:t>
            </a:r>
            <a:r>
              <a:rPr lang="en-US"/>
              <a:t> since the units are predicted in a causal way.</a:t>
            </a:r>
          </a:p>
          <a:p>
            <a:r>
              <a:rPr lang="en-US"/>
              <a:t>Estimating the probability of a text sequence as shwon in Eq. (1) directly encounters that data sparsity problem.  </a:t>
            </a:r>
          </a:p>
          <a:p>
            <a:endParaRPr lang="en-US"/>
          </a:p>
          <a:p>
            <a:r>
              <a:rPr lang="en-US" b="1"/>
              <a:t>CLMs</a:t>
            </a:r>
            <a:r>
              <a:rPr lang="en-US"/>
              <a:t> often </a:t>
            </a:r>
            <a:r>
              <a:rPr lang="en-US">
                <a:highlight>
                  <a:srgbClr val="FFFF00"/>
                </a:highlight>
              </a:rPr>
              <a:t>estimate the joint probability of the text sequence</a:t>
            </a:r>
            <a:r>
              <a:rPr lang="en-US"/>
              <a:t> by </a:t>
            </a:r>
            <a:r>
              <a:rPr lang="en-US">
                <a:highlight>
                  <a:srgbClr val="FFFF00"/>
                </a:highlight>
              </a:rPr>
              <a:t>decomposing a text sequence</a:t>
            </a:r>
            <a:r>
              <a:rPr lang="en-US"/>
              <a:t> into smaller units. </a:t>
            </a:r>
            <a:br>
              <a:rPr lang="en-US"/>
            </a:br>
            <a:r>
              <a:rPr lang="en-US"/>
              <a:t>For example, CLMs leverage the chain rule and the conditional probability to estimate the joint probability in the form of </a:t>
            </a:r>
          </a:p>
        </p:txBody>
      </p:sp>
      <p:pic>
        <p:nvPicPr>
          <p:cNvPr id="6" name="Picture 5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3A9E818B-72FB-D3CF-F8F7-D735022B6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219" y="3460695"/>
            <a:ext cx="1590675" cy="552450"/>
          </a:xfrm>
          <a:prstGeom prst="rect">
            <a:avLst/>
          </a:prstGeom>
        </p:spPr>
      </p:pic>
      <p:pic>
        <p:nvPicPr>
          <p:cNvPr id="7" name="Picture 6" descr="A close up of a number&#10;&#10;AI-generated content may be incorrect.">
            <a:extLst>
              <a:ext uri="{FF2B5EF4-FFF2-40B4-BE49-F238E27FC236}">
                <a16:creationId xmlns:a16="http://schemas.microsoft.com/office/drawing/2014/main" id="{1250F45B-52F6-4653-8804-DA306157B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1464" y="5878864"/>
            <a:ext cx="9086850" cy="504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85CC8E-7ACB-031E-D767-3274FAEEA7F1}"/>
              </a:ext>
            </a:extLst>
          </p:cNvPr>
          <p:cNvSpPr txBox="1"/>
          <p:nvPr/>
        </p:nvSpPr>
        <p:spPr>
          <a:xfrm>
            <a:off x="7281332" y="1650999"/>
            <a:ext cx="6349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(1)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BEC35B-4507-4F0B-B860-BBA1A9C08A27}"/>
              </a:ext>
            </a:extLst>
          </p:cNvPr>
          <p:cNvSpPr txBox="1"/>
          <p:nvPr/>
        </p:nvSpPr>
        <p:spPr>
          <a:xfrm>
            <a:off x="6955811" y="3553474"/>
            <a:ext cx="6349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(2)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E4F859-04B8-1960-6FD2-2101B0B52DC6}"/>
              </a:ext>
            </a:extLst>
          </p:cNvPr>
          <p:cNvSpPr txBox="1"/>
          <p:nvPr/>
        </p:nvSpPr>
        <p:spPr>
          <a:xfrm>
            <a:off x="10501115" y="5943747"/>
            <a:ext cx="6349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1311714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F8F91-FBBC-ACB4-7998-064D4904D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21"/>
            <a:ext cx="10515600" cy="1325563"/>
          </a:xfrm>
        </p:spPr>
        <p:txBody>
          <a:bodyPr/>
          <a:lstStyle/>
          <a:p>
            <a:pPr algn="ctr"/>
            <a:r>
              <a:rPr lang="en-US"/>
              <a:t>Pre-trained Language Model (PLM)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719AFE-60E2-9091-772D-E0631B53CB03}"/>
              </a:ext>
            </a:extLst>
          </p:cNvPr>
          <p:cNvSpPr txBox="1"/>
          <p:nvPr/>
        </p:nvSpPr>
        <p:spPr>
          <a:xfrm>
            <a:off x="534170" y="1037492"/>
            <a:ext cx="11122269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/>
              <a:t>Training </a:t>
            </a:r>
            <a:r>
              <a:rPr lang="en-US" b="1" err="1"/>
              <a:t>Mehodology</a:t>
            </a:r>
            <a:br>
              <a:rPr lang="en-US"/>
            </a:br>
            <a:r>
              <a:rPr lang="en-US"/>
              <a:t>With the development of deep learning, </a:t>
            </a:r>
            <a:r>
              <a:rPr lang="en-US" b="1"/>
              <a:t>PLMs</a:t>
            </a:r>
            <a:r>
              <a:rPr lang="en-US"/>
              <a:t> </a:t>
            </a:r>
            <a:r>
              <a:rPr lang="en-US">
                <a:highlight>
                  <a:srgbClr val="FFFF00"/>
                </a:highlight>
              </a:rPr>
              <a:t>with neural network</a:t>
            </a:r>
            <a:r>
              <a:rPr lang="en-US"/>
              <a:t> structures are</a:t>
            </a:r>
            <a:r>
              <a:rPr lang="en-US">
                <a:highlight>
                  <a:srgbClr val="FFFF00"/>
                </a:highlight>
              </a:rPr>
              <a:t> pre-trained by collections of massive unlabeled corpora</a:t>
            </a:r>
            <a:r>
              <a:rPr lang="en-US"/>
              <a:t> to learn generic knowledge which is then transferred to downstream tasks by task-specific fine-tuning.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/>
              <a:t>Causality Constraint</a:t>
            </a:r>
            <a:br>
              <a:rPr lang="en-US"/>
            </a:br>
            <a:r>
              <a:rPr lang="en-US"/>
              <a:t>PLMs do </a:t>
            </a:r>
            <a:r>
              <a:rPr lang="en-US">
                <a:highlight>
                  <a:srgbClr val="FFFF00"/>
                </a:highlight>
              </a:rPr>
              <a:t>not necessarily follow CLMs</a:t>
            </a:r>
            <a:r>
              <a:rPr lang="en-US"/>
              <a:t> in predicting linguistic units as shown in Eq. (2). </a:t>
            </a:r>
            <a:br>
              <a:rPr lang="en-US"/>
            </a:br>
            <a:r>
              <a:rPr lang="en-US"/>
              <a:t>For example, bidirectional LMs use both preceding and succeeding contexts to </a:t>
            </a:r>
            <a:r>
              <a:rPr lang="en-US" err="1"/>
              <a:t>predcit</a:t>
            </a:r>
            <a:r>
              <a:rPr lang="en-US"/>
              <a:t> the missing linguistic units via probability estimation: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 b="1"/>
              <a:t>Bidirectional LMs </a:t>
            </a:r>
            <a:r>
              <a:rPr lang="en-US"/>
              <a:t>do </a:t>
            </a:r>
            <a:r>
              <a:rPr lang="en-US">
                <a:highlight>
                  <a:srgbClr val="FFFF00"/>
                </a:highlight>
              </a:rPr>
              <a:t>not follow the causality constraint and the chain rule in Eq. (3)</a:t>
            </a:r>
            <a:r>
              <a:rPr lang="en-US"/>
              <a:t>, to access the probability of a text sequence, which makes it inherently </a:t>
            </a:r>
            <a:r>
              <a:rPr lang="en-US" err="1"/>
              <a:t>diffent</a:t>
            </a:r>
            <a:r>
              <a:rPr lang="en-US"/>
              <a:t> from CLMs.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/>
              <a:t>Token Representation</a:t>
            </a:r>
            <a:br>
              <a:rPr lang="en-US"/>
            </a:br>
            <a:r>
              <a:rPr lang="en-US"/>
              <a:t>Apart from the differences in the training paradigm and probability modeling, P</a:t>
            </a:r>
            <a:r>
              <a:rPr lang="en-US">
                <a:highlight>
                  <a:srgbClr val="FFFF00"/>
                </a:highlight>
              </a:rPr>
              <a:t>LMs adopts a different representation for basic units called tokens</a:t>
            </a:r>
            <a:r>
              <a:rPr lang="en-US"/>
              <a:t>. </a:t>
            </a:r>
            <a:r>
              <a:rPr lang="en-US" b="1"/>
              <a:t>PLMs represent tokens</a:t>
            </a:r>
            <a:r>
              <a:rPr lang="en-US"/>
              <a:t> by </a:t>
            </a:r>
            <a:r>
              <a:rPr lang="en-US" b="1"/>
              <a:t>embedding them in a high-dimensional continuous space</a:t>
            </a:r>
            <a:r>
              <a:rPr lang="en-US"/>
              <a:t> such as</a:t>
            </a:r>
            <a:r>
              <a:rPr lang="en-US" b="1"/>
              <a:t> word embedding</a:t>
            </a:r>
            <a:r>
              <a:rPr lang="en-US"/>
              <a:t> and sentence embeddings. The new representations offer a flexible and powerful tool that enables PLMs to handle a wide range of tasks.</a:t>
            </a:r>
          </a:p>
        </p:txBody>
      </p:sp>
      <p:pic>
        <p:nvPicPr>
          <p:cNvPr id="4" name="Picture 3" descr="A black and white text&#10;&#10;AI-generated content may be incorrect.">
            <a:extLst>
              <a:ext uri="{FF2B5EF4-FFF2-40B4-BE49-F238E27FC236}">
                <a16:creationId xmlns:a16="http://schemas.microsoft.com/office/drawing/2014/main" id="{5ABF05B5-5AE5-DD8B-DB17-EA4A8EA18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224" y="3694949"/>
            <a:ext cx="1941597" cy="50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272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DA2FB-B4DD-6E64-3437-7609CC332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8889"/>
            <a:ext cx="10515600" cy="1325563"/>
          </a:xfrm>
        </p:spPr>
        <p:txBody>
          <a:bodyPr/>
          <a:lstStyle/>
          <a:p>
            <a:pPr algn="ctr"/>
            <a:r>
              <a:rPr lang="en-US"/>
              <a:t>Types of Language Models</a:t>
            </a:r>
            <a:br>
              <a:rPr lang="en-US"/>
            </a:br>
            <a:r>
              <a:rPr lang="en-US"/>
              <a:t>beyond CLMs.</a:t>
            </a:r>
          </a:p>
        </p:txBody>
      </p:sp>
    </p:spTree>
    <p:extLst>
      <p:ext uri="{BB962C8B-B14F-4D97-AF65-F5344CB8AC3E}">
        <p14:creationId xmlns:p14="http://schemas.microsoft.com/office/powerpoint/2010/main" val="2079104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B6DEE-E202-6F83-A3AA-34E1D71B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179" y="-3843"/>
            <a:ext cx="10515600" cy="1325563"/>
          </a:xfrm>
        </p:spPr>
        <p:txBody>
          <a:bodyPr/>
          <a:lstStyle/>
          <a:p>
            <a:pPr algn="ctr"/>
            <a:r>
              <a:rPr lang="en-US"/>
              <a:t>Structural LM</a:t>
            </a:r>
          </a:p>
        </p:txBody>
      </p:sp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6C402C94-68D0-6E79-D85F-1ACEE808D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496" y="4120331"/>
            <a:ext cx="7883079" cy="23431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59185C-78D6-BDEB-FED0-6EE798705143}"/>
              </a:ext>
            </a:extLst>
          </p:cNvPr>
          <p:cNvSpPr txBox="1"/>
          <p:nvPr/>
        </p:nvSpPr>
        <p:spPr>
          <a:xfrm>
            <a:off x="3424193" y="3513870"/>
            <a:ext cx="54301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The example of a dependency parse tree 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21D46E-58E6-471D-A3EE-4876A64A0FAF}"/>
              </a:ext>
            </a:extLst>
          </p:cNvPr>
          <p:cNvSpPr/>
          <p:nvPr/>
        </p:nvSpPr>
        <p:spPr>
          <a:xfrm>
            <a:off x="981082" y="3430143"/>
            <a:ext cx="10355133" cy="317847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C07F7F-0999-7971-E558-EC25B13BEEEF}"/>
              </a:ext>
            </a:extLst>
          </p:cNvPr>
          <p:cNvSpPr txBox="1"/>
          <p:nvPr/>
        </p:nvSpPr>
        <p:spPr>
          <a:xfrm>
            <a:off x="304799" y="955963"/>
            <a:ext cx="11665527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/>
              <a:t>Structural LMs</a:t>
            </a:r>
            <a:r>
              <a:rPr lang="en-US"/>
              <a:t> predict linguistic units based on </a:t>
            </a:r>
            <a:r>
              <a:rPr lang="en-US">
                <a:highlight>
                  <a:srgbClr val="FFFF00"/>
                </a:highlight>
              </a:rPr>
              <a:t>pre-defined linguistic structures</a:t>
            </a:r>
            <a:r>
              <a:rPr lang="en-US"/>
              <a:t> such as</a:t>
            </a:r>
            <a:r>
              <a:rPr lang="en-US">
                <a:highlight>
                  <a:srgbClr val="FFFF00"/>
                </a:highlight>
              </a:rPr>
              <a:t> dependency or constituent parse trees</a:t>
            </a:r>
            <a:r>
              <a:rPr lang="en-US"/>
              <a:t>.  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Structural LMs utilize the linguistic structure to bring linguistically relevant context closer to the linguistic unit to be predicted. 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For example, given a parse tree structure, a structural LM can define the ancestor context A(Ut) of Ut as the sequence from the root node to the parent of </a:t>
            </a:r>
            <a:r>
              <a:rPr lang="en-US" err="1"/>
              <a:t>Ut.</a:t>
            </a:r>
          </a:p>
        </p:txBody>
      </p:sp>
      <p:pic>
        <p:nvPicPr>
          <p:cNvPr id="11" name="Picture 10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A8CD0039-0FD8-A821-DDF5-2B01B7B99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658" y="2706672"/>
            <a:ext cx="1488860" cy="51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301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48C6-A0F7-D0D2-CB7D-23906C545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315"/>
            <a:ext cx="10515600" cy="1325563"/>
          </a:xfrm>
        </p:spPr>
        <p:txBody>
          <a:bodyPr/>
          <a:lstStyle/>
          <a:p>
            <a:pPr algn="ctr"/>
            <a:r>
              <a:rPr lang="en-US"/>
              <a:t>Bidirectional LM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6D31EE-9399-0C20-CDE7-F0744C44D40A}"/>
              </a:ext>
            </a:extLst>
          </p:cNvPr>
          <p:cNvSpPr txBox="1"/>
          <p:nvPr/>
        </p:nvSpPr>
        <p:spPr>
          <a:xfrm>
            <a:off x="512618" y="1036803"/>
            <a:ext cx="11180618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Instead of using the causal contexts to make predictions, </a:t>
            </a:r>
            <a:r>
              <a:rPr lang="en-US" b="1"/>
              <a:t>bidirectional LMs</a:t>
            </a:r>
            <a:r>
              <a:rPr lang="en-US"/>
              <a:t> utilize</a:t>
            </a:r>
            <a:r>
              <a:rPr lang="en-US">
                <a:highlight>
                  <a:srgbClr val="FFFF00"/>
                </a:highlight>
              </a:rPr>
              <a:t> contexts from both</a:t>
            </a:r>
            <a:r>
              <a:rPr lang="en-US"/>
              <a:t> </a:t>
            </a:r>
            <a:r>
              <a:rPr lang="en-US">
                <a:highlight>
                  <a:srgbClr val="FFFF00"/>
                </a:highlight>
              </a:rPr>
              <a:t>directions</a:t>
            </a:r>
            <a:r>
              <a:rPr lang="en-US"/>
              <a:t> as shown in Eq. (4).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The </a:t>
            </a:r>
            <a:r>
              <a:rPr lang="en-US" b="1"/>
              <a:t>masked LM </a:t>
            </a:r>
            <a:r>
              <a:rPr lang="en-US"/>
              <a:t>is o</a:t>
            </a:r>
            <a:r>
              <a:rPr lang="en-US">
                <a:highlight>
                  <a:srgbClr val="FFFF00"/>
                </a:highlight>
              </a:rPr>
              <a:t>ne representative bidirectional LM</a:t>
            </a:r>
            <a:r>
              <a:rPr lang="en-US"/>
              <a:t>. It </a:t>
            </a:r>
            <a:r>
              <a:rPr lang="en-US">
                <a:highlight>
                  <a:srgbClr val="FFFF00"/>
                </a:highlight>
              </a:rPr>
              <a:t>masks out linguistic units</a:t>
            </a:r>
            <a:r>
              <a:rPr lang="en-US"/>
              <a:t> in a text sequence and then, encodes their preceding and succeeding contexts to predict the masked linguistic units. Formally, the prediction can be defined as the estimation of the following conditional probability</a:t>
            </a: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where </a:t>
            </a:r>
            <a:r>
              <a:rPr lang="en-US" b="1"/>
              <a:t>Um is the masked linguistic unit </a:t>
            </a:r>
            <a:r>
              <a:rPr lang="en-US"/>
              <a:t>and</a:t>
            </a:r>
            <a:r>
              <a:rPr lang="en-US" b="1"/>
              <a:t> </a:t>
            </a:r>
            <a:r>
              <a:rPr lang="en-US" b="1">
                <a:ea typeface="+mn-lt"/>
                <a:cs typeface="+mn-lt"/>
              </a:rPr>
              <a:t>S¯</a:t>
            </a:r>
            <a:r>
              <a:rPr lang="en-US" b="1"/>
              <a:t> is the corrupted text sequence</a:t>
            </a:r>
            <a:r>
              <a:rPr lang="en-US"/>
              <a:t> by replacing a certain number of linguistic units with [MASK} symbols.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/>
              <a:t>The goal of bidirectional LMs</a:t>
            </a:r>
            <a:r>
              <a:rPr lang="en-US"/>
              <a:t> is to</a:t>
            </a:r>
            <a:r>
              <a:rPr lang="en-US">
                <a:highlight>
                  <a:srgbClr val="FFFF00"/>
                </a:highlight>
              </a:rPr>
              <a:t> learn the inner dependency between linguistic units</a:t>
            </a:r>
            <a:r>
              <a:rPr lang="en-US"/>
              <a:t> in an unsupervised manner.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The </a:t>
            </a:r>
            <a:r>
              <a:rPr lang="en-US" b="1"/>
              <a:t>trained model</a:t>
            </a:r>
            <a:r>
              <a:rPr lang="en-US"/>
              <a:t> can </a:t>
            </a:r>
            <a:r>
              <a:rPr lang="en-US">
                <a:highlight>
                  <a:srgbClr val="FFFF00"/>
                </a:highlight>
              </a:rPr>
              <a:t>inherit semantics meanings</a:t>
            </a:r>
            <a:r>
              <a:rPr lang="en-US"/>
              <a:t> from large-scale unlabeled corpora.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Different from CLMs that aim to model the generation probability of next sequences, </a:t>
            </a:r>
            <a:r>
              <a:rPr lang="en-US" b="1"/>
              <a:t>pre-trained bidirectional LMs</a:t>
            </a:r>
            <a:r>
              <a:rPr lang="en-US"/>
              <a:t> are used as the</a:t>
            </a:r>
            <a:r>
              <a:rPr lang="en-US">
                <a:highlight>
                  <a:srgbClr val="FFFF00"/>
                </a:highlight>
              </a:rPr>
              <a:t> backbone that transfers the learned knowledge </a:t>
            </a:r>
            <a:r>
              <a:rPr lang="en-US"/>
              <a:t>through </a:t>
            </a:r>
            <a:r>
              <a:rPr lang="en-US">
                <a:highlight>
                  <a:srgbClr val="FFFF00"/>
                </a:highlight>
              </a:rPr>
              <a:t>further fine-tuning in various downstream applications</a:t>
            </a:r>
            <a:r>
              <a:rPr lang="en-US"/>
              <a:t>. </a:t>
            </a:r>
          </a:p>
        </p:txBody>
      </p:sp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51DBBFE-C789-3FB9-3D2C-D5A5189BF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042" y="3054102"/>
            <a:ext cx="1316114" cy="507137"/>
          </a:xfrm>
          <a:prstGeom prst="rect">
            <a:avLst/>
          </a:prstGeom>
        </p:spPr>
      </p:pic>
      <p:pic>
        <p:nvPicPr>
          <p:cNvPr id="6" name="Picture 5" descr="A black and white text&#10;&#10;AI-generated content may be incorrect.">
            <a:extLst>
              <a:ext uri="{FF2B5EF4-FFF2-40B4-BE49-F238E27FC236}">
                <a16:creationId xmlns:a16="http://schemas.microsoft.com/office/drawing/2014/main" id="{5FA340A6-551B-67C9-FE55-34F3F6D9B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7049" y="1637346"/>
            <a:ext cx="1941597" cy="50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210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FB0E9-943D-90D0-1D22-DE3D01C7B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3"/>
            <a:ext cx="10515600" cy="1325563"/>
          </a:xfrm>
        </p:spPr>
        <p:txBody>
          <a:bodyPr/>
          <a:lstStyle/>
          <a:p>
            <a:pPr algn="ctr"/>
            <a:r>
              <a:rPr lang="en-US"/>
              <a:t>Permutation LM</a:t>
            </a:r>
          </a:p>
        </p:txBody>
      </p:sp>
      <p:pic>
        <p:nvPicPr>
          <p:cNvPr id="5" name="Picture 4" descr="A black and white text&#10;&#10;AI-generated content may be incorrect.">
            <a:extLst>
              <a:ext uri="{FF2B5EF4-FFF2-40B4-BE49-F238E27FC236}">
                <a16:creationId xmlns:a16="http://schemas.microsoft.com/office/drawing/2014/main" id="{494E39D4-DFF1-DFC6-83B5-BA49827E3D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3" t="-1316" r="-255" b="73026"/>
          <a:stretch/>
        </p:blipFill>
        <p:spPr>
          <a:xfrm>
            <a:off x="1358282" y="5125715"/>
            <a:ext cx="3764324" cy="82116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30E3517-BA05-2F54-C183-E9043985978A}"/>
              </a:ext>
            </a:extLst>
          </p:cNvPr>
          <p:cNvSpPr/>
          <p:nvPr/>
        </p:nvSpPr>
        <p:spPr>
          <a:xfrm>
            <a:off x="1073271" y="4327564"/>
            <a:ext cx="10281442" cy="241647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BD8F3C-8427-D7FF-F27F-8837F44A4B7F}"/>
              </a:ext>
            </a:extLst>
          </p:cNvPr>
          <p:cNvSpPr txBox="1"/>
          <p:nvPr/>
        </p:nvSpPr>
        <p:spPr>
          <a:xfrm>
            <a:off x="3047227" y="4334485"/>
            <a:ext cx="59081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The use of different permutations in a natural sentence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DAE518-476F-D5AF-2EFE-DDD5098369E8}"/>
              </a:ext>
            </a:extLst>
          </p:cNvPr>
          <p:cNvSpPr txBox="1"/>
          <p:nvPr/>
        </p:nvSpPr>
        <p:spPr>
          <a:xfrm>
            <a:off x="284703" y="1055076"/>
            <a:ext cx="11647713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The </a:t>
            </a:r>
            <a:r>
              <a:rPr lang="en-US" b="1"/>
              <a:t>permutation LM</a:t>
            </a:r>
            <a:r>
              <a:rPr lang="en-US"/>
              <a:t> is a recently proposed LM that takes advantage of CLMs and masked LMs.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Given an input sequence of linguistic units, </a:t>
            </a:r>
            <a:r>
              <a:rPr lang="en-US" b="1"/>
              <a:t>premutation LMs </a:t>
            </a:r>
            <a:r>
              <a:rPr lang="en-US">
                <a:highlight>
                  <a:srgbClr val="FFFF00"/>
                </a:highlight>
              </a:rPr>
              <a:t>randomize the order of input linguistic units</a:t>
            </a:r>
            <a:r>
              <a:rPr lang="en-US"/>
              <a:t> and </a:t>
            </a:r>
            <a:r>
              <a:rPr lang="en-US">
                <a:highlight>
                  <a:srgbClr val="FFFF00"/>
                </a:highlight>
              </a:rPr>
              <a:t>construct different permutations of the input sequence</a:t>
            </a:r>
            <a:r>
              <a:rPr lang="en-US"/>
              <a:t>.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Figure below shows </a:t>
            </a:r>
            <a:r>
              <a:rPr lang="en-US" b="1"/>
              <a:t>an example of different permutations</a:t>
            </a:r>
            <a:r>
              <a:rPr lang="en-US"/>
              <a:t> given an input text sequence.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Let </a:t>
            </a:r>
            <a:r>
              <a:rPr lang="en-US" b="1">
                <a:ea typeface="+mn-lt"/>
                <a:cs typeface="+mn-lt"/>
              </a:rPr>
              <a:t>Z</a:t>
            </a:r>
            <a:r>
              <a:rPr lang="en-US"/>
              <a:t> be the </a:t>
            </a:r>
            <a:r>
              <a:rPr lang="en-US">
                <a:highlight>
                  <a:srgbClr val="FFFF00"/>
                </a:highlight>
              </a:rPr>
              <a:t>set of all possible permutations</a:t>
            </a:r>
            <a:r>
              <a:rPr lang="en-US"/>
              <a:t>. </a:t>
            </a:r>
            <a:r>
              <a:rPr lang="en-US" b="1"/>
              <a:t>Permutation LMs</a:t>
            </a:r>
            <a:r>
              <a:rPr lang="en-US"/>
              <a:t> </a:t>
            </a:r>
            <a:r>
              <a:rPr lang="en-US">
                <a:highlight>
                  <a:srgbClr val="FFFF00"/>
                </a:highlight>
              </a:rPr>
              <a:t>predict the next linguistic unit, Ut,</a:t>
            </a:r>
            <a:r>
              <a:rPr lang="en-US"/>
              <a:t> in one permution, Z, of the sequence based on </a:t>
            </a:r>
          </a:p>
        </p:txBody>
      </p:sp>
      <p:pic>
        <p:nvPicPr>
          <p:cNvPr id="11" name="Picture 10" descr="A black and white text&#10;&#10;AI-generated content may be incorrect.">
            <a:extLst>
              <a:ext uri="{FF2B5EF4-FFF2-40B4-BE49-F238E27FC236}">
                <a16:creationId xmlns:a16="http://schemas.microsoft.com/office/drawing/2014/main" id="{0EFDB80C-C2B4-E772-DC8E-05BD93AA2A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605" r="-255" b="-966"/>
          <a:stretch/>
        </p:blipFill>
        <p:spPr>
          <a:xfrm>
            <a:off x="6995489" y="4740527"/>
            <a:ext cx="3544852" cy="2002144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1BBF7E0E-62A3-3FAC-336C-2D53BB0BA839}"/>
              </a:ext>
            </a:extLst>
          </p:cNvPr>
          <p:cNvSpPr/>
          <p:nvPr/>
        </p:nvSpPr>
        <p:spPr>
          <a:xfrm>
            <a:off x="5267011" y="5484725"/>
            <a:ext cx="1457010" cy="5191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702878F-9C67-907C-0398-9483C75F8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155" y="3627769"/>
            <a:ext cx="2260042" cy="45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049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AC7F2-26BE-CA5B-FB00-1441968F0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8356"/>
            <a:ext cx="10515600" cy="1325563"/>
          </a:xfrm>
        </p:spPr>
        <p:txBody>
          <a:bodyPr/>
          <a:lstStyle/>
          <a:p>
            <a:pPr algn="ctr"/>
            <a:r>
              <a:rPr lang="en-US"/>
              <a:t>Linguistic Units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BFA6BE-1A2B-0468-8E6D-20B4834245CC}"/>
              </a:ext>
            </a:extLst>
          </p:cNvPr>
          <p:cNvSpPr txBox="1"/>
          <p:nvPr/>
        </p:nvSpPr>
        <p:spPr>
          <a:xfrm>
            <a:off x="837361" y="4722725"/>
            <a:ext cx="1090246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To </a:t>
            </a:r>
            <a:r>
              <a:rPr lang="en-US" b="1"/>
              <a:t>estimate the probability of text seqeucnes</a:t>
            </a:r>
            <a:r>
              <a:rPr lang="en-US"/>
              <a:t>, LMs </a:t>
            </a:r>
            <a:r>
              <a:rPr lang="en-US" b="1"/>
              <a:t>partition</a:t>
            </a:r>
            <a:r>
              <a:rPr lang="en-US"/>
              <a:t> </a:t>
            </a:r>
            <a:r>
              <a:rPr lang="en-US">
                <a:highlight>
                  <a:srgbClr val="FFFF00"/>
                </a:highlight>
              </a:rPr>
              <a:t>text sequences into small linguistic units</a:t>
            </a:r>
            <a:r>
              <a:rPr lang="en-US"/>
              <a:t> such as </a:t>
            </a:r>
            <a:r>
              <a:rPr lang="en-US">
                <a:highlight>
                  <a:srgbClr val="FFFF00"/>
                </a:highlight>
              </a:rPr>
              <a:t>characters, words, phrases, or sentences</a:t>
            </a:r>
            <a:r>
              <a:rPr lang="en-US"/>
              <a:t>. This process is called</a:t>
            </a:r>
            <a:r>
              <a:rPr lang="en-US" b="1"/>
              <a:t> tokenization</a:t>
            </a:r>
            <a:r>
              <a:rPr lang="en-US"/>
              <a:t>. </a:t>
            </a:r>
            <a:r>
              <a:rPr lang="en-US" b="1"/>
              <a:t>The resulting linguistic units </a:t>
            </a:r>
            <a:r>
              <a:rPr lang="en-US"/>
              <a:t>are called </a:t>
            </a:r>
            <a:r>
              <a:rPr lang="en-US" b="1"/>
              <a:t>tokens</a:t>
            </a:r>
            <a:r>
              <a:rPr lang="en-US"/>
              <a:t>. Different languages and models may have different appropriate tokenization methods. </a:t>
            </a:r>
          </a:p>
        </p:txBody>
      </p:sp>
    </p:spTree>
    <p:extLst>
      <p:ext uri="{BB962C8B-B14F-4D97-AF65-F5344CB8AC3E}">
        <p14:creationId xmlns:p14="http://schemas.microsoft.com/office/powerpoint/2010/main" val="2733993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BE832-AB55-FE28-A996-FA46E30B2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315"/>
            <a:ext cx="10515600" cy="1325563"/>
          </a:xfrm>
        </p:spPr>
        <p:txBody>
          <a:bodyPr/>
          <a:lstStyle/>
          <a:p>
            <a:pPr algn="ctr"/>
            <a:r>
              <a:rPr lang="en-US"/>
              <a:t>Characters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527222-2345-1C11-E3B8-031A69BB03E5}"/>
              </a:ext>
            </a:extLst>
          </p:cNvPr>
          <p:cNvSpPr txBox="1"/>
          <p:nvPr/>
        </p:nvSpPr>
        <p:spPr>
          <a:xfrm>
            <a:off x="334944" y="1942681"/>
            <a:ext cx="1148861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/>
              <a:t>LMs</a:t>
            </a:r>
            <a:r>
              <a:rPr lang="en-US"/>
              <a:t> can</a:t>
            </a:r>
            <a:r>
              <a:rPr lang="en-US">
                <a:highlight>
                  <a:srgbClr val="FFFF00"/>
                </a:highlight>
              </a:rPr>
              <a:t> model text sequences</a:t>
            </a:r>
            <a:r>
              <a:rPr lang="en-US"/>
              <a:t> probability</a:t>
            </a:r>
            <a:r>
              <a:rPr lang="en-US" b="1"/>
              <a:t> based on characters</a:t>
            </a:r>
            <a:r>
              <a:rPr lang="en-US"/>
              <a:t>.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As compared with other linguistics units, using characters has a </a:t>
            </a:r>
            <a:r>
              <a:rPr lang="en-US" b="1"/>
              <a:t>much smaller vocabulary size</a:t>
            </a:r>
            <a:r>
              <a:rPr lang="en-US"/>
              <a:t>, leading to a smaller discrete space and model size.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On the othe hand, it is </a:t>
            </a:r>
            <a:r>
              <a:rPr lang="en-US" b="1"/>
              <a:t>chalenging to predict the next character.</a:t>
            </a:r>
            <a:r>
              <a:rPr lang="en-US"/>
              <a:t> Usually, it </a:t>
            </a:r>
            <a:r>
              <a:rPr lang="en-US">
                <a:highlight>
                  <a:srgbClr val="FFFF00"/>
                </a:highlight>
              </a:rPr>
              <a:t>requires a long historical context</a:t>
            </a:r>
            <a:r>
              <a:rPr lang="en-US"/>
              <a:t>. This makes the performance of character-level LMs poorer than that of word-level LMs.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In addition, the i</a:t>
            </a:r>
            <a:r>
              <a:rPr lang="en-US" b="1"/>
              <a:t>nput and output lengths </a:t>
            </a:r>
            <a:r>
              <a:rPr lang="en-US"/>
              <a:t>have to </a:t>
            </a:r>
            <a:r>
              <a:rPr lang="en-US">
                <a:highlight>
                  <a:srgbClr val="FFFF00"/>
                </a:highlight>
              </a:rPr>
              <a:t>be longer</a:t>
            </a:r>
            <a:r>
              <a:rPr lang="en-US"/>
              <a:t> to model the character distribution accuartely. This results in higher computational costs, especially for auto-regressive decoding. </a:t>
            </a:r>
          </a:p>
        </p:txBody>
      </p:sp>
    </p:spTree>
    <p:extLst>
      <p:ext uri="{BB962C8B-B14F-4D97-AF65-F5344CB8AC3E}">
        <p14:creationId xmlns:p14="http://schemas.microsoft.com/office/powerpoint/2010/main" val="3612277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3D424-E0F8-B172-7CEB-7AE09E89A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315"/>
            <a:ext cx="10515600" cy="1325563"/>
          </a:xfrm>
        </p:spPr>
        <p:txBody>
          <a:bodyPr/>
          <a:lstStyle/>
          <a:p>
            <a:pPr algn="ctr"/>
            <a:r>
              <a:rPr lang="en-US"/>
              <a:t>Words and Subwords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0DA5CC-CB53-BE8C-B841-A0A546AFD0C6}"/>
              </a:ext>
            </a:extLst>
          </p:cNvPr>
          <p:cNvSpPr txBox="1"/>
          <p:nvPr/>
        </p:nvSpPr>
        <p:spPr>
          <a:xfrm>
            <a:off x="284703" y="1473758"/>
            <a:ext cx="11622593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The most</a:t>
            </a:r>
            <a:r>
              <a:rPr lang="en-US" b="1"/>
              <a:t> natural tokenization</a:t>
            </a:r>
            <a:r>
              <a:rPr lang="en-US"/>
              <a:t> for English is to </a:t>
            </a:r>
            <a:r>
              <a:rPr lang="en-US">
                <a:highlight>
                  <a:srgbClr val="FFFF00"/>
                </a:highlight>
              </a:rPr>
              <a:t>decompose a text sequence into words by white spaces</a:t>
            </a:r>
            <a:r>
              <a:rPr lang="en-US"/>
              <a:t>. Many LMs apply word tokenization.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However, there are </a:t>
            </a:r>
            <a:r>
              <a:rPr lang="en-US" b="1"/>
              <a:t>several issues </a:t>
            </a:r>
            <a:r>
              <a:rPr lang="en-US"/>
              <a:t>of native word tokenization.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The first one is the </a:t>
            </a:r>
            <a:r>
              <a:rPr lang="en-US" b="1"/>
              <a:t>Out-Of-Vocabulary (OOV) problem</a:t>
            </a:r>
            <a:r>
              <a:rPr lang="en-US"/>
              <a:t>. Because an LM has a pre-defined vocabulary size that cannot be arbitrartily large, less frequent words and words with character-level errors may not be stored in the pre-defined vocabulary. Thus, </a:t>
            </a:r>
            <a:r>
              <a:rPr lang="en-US">
                <a:highlight>
                  <a:srgbClr val="FFFF00"/>
                </a:highlight>
              </a:rPr>
              <a:t>they cannot be retrieved from the dictionary</a:t>
            </a:r>
            <a:r>
              <a:rPr lang="en-US"/>
              <a:t>.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Although one can</a:t>
            </a:r>
            <a:r>
              <a:rPr lang="en-US" b="1"/>
              <a:t> extend the vocabulary size to alleviate this problem,</a:t>
            </a:r>
            <a:r>
              <a:rPr lang="en-US"/>
              <a:t> it will increase the model size and still </a:t>
            </a:r>
            <a:r>
              <a:rPr lang="en-US" b="1"/>
              <a:t>cannot handle all possible words</a:t>
            </a:r>
            <a:r>
              <a:rPr lang="en-US"/>
              <a:t>.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Recently, researchers are in favor of </a:t>
            </a:r>
            <a:r>
              <a:rPr lang="en-US" b="1"/>
              <a:t>decomposing words into subwords</a:t>
            </a:r>
            <a:r>
              <a:rPr lang="en-US"/>
              <a:t> if they do not appear in the dictionary. This offers a flexible and effective solution to the OOV problem. 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67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6F314-69B7-3477-48E6-4A4BFDD00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73" y="2766580"/>
            <a:ext cx="10515600" cy="1325563"/>
          </a:xfrm>
        </p:spPr>
        <p:txBody>
          <a:bodyPr/>
          <a:lstStyle/>
          <a:p>
            <a:pPr algn="ctr"/>
            <a:r>
              <a:rPr lang="en-US"/>
              <a:t>Architecture of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1853369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C24F9-DBFB-BA1B-7884-638A546E4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315"/>
            <a:ext cx="10515600" cy="1325563"/>
          </a:xfrm>
        </p:spPr>
        <p:txBody>
          <a:bodyPr/>
          <a:lstStyle/>
          <a:p>
            <a:pPr algn="ctr"/>
            <a:r>
              <a:rPr lang="en-US"/>
              <a:t>Feed-forward Neural Network (FNN) Models</a:t>
            </a:r>
          </a:p>
        </p:txBody>
      </p:sp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F21B52C5-E311-491B-2F63-3DABB35CF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980" y="2579074"/>
            <a:ext cx="6801049" cy="42789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201C11-18BD-506C-B661-4CE840BB3139}"/>
              </a:ext>
            </a:extLst>
          </p:cNvPr>
          <p:cNvSpPr txBox="1"/>
          <p:nvPr/>
        </p:nvSpPr>
        <p:spPr>
          <a:xfrm>
            <a:off x="16747" y="1105319"/>
            <a:ext cx="1217525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/>
              <a:t>Feed-forward Neural Network (FNN) LM</a:t>
            </a:r>
            <a:r>
              <a:rPr lang="en-US"/>
              <a:t>s is one of the</a:t>
            </a:r>
            <a:r>
              <a:rPr lang="en-US">
                <a:highlight>
                  <a:srgbClr val="FFFF00"/>
                </a:highlight>
              </a:rPr>
              <a:t> earlier neural network models</a:t>
            </a:r>
            <a:r>
              <a:rPr lang="en-US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An FNN LM takes</a:t>
            </a:r>
            <a:r>
              <a:rPr lang="en-US" b="1"/>
              <a:t> historical contexts as the input</a:t>
            </a:r>
            <a:r>
              <a:rPr lang="en-US"/>
              <a:t>, and </a:t>
            </a:r>
            <a:r>
              <a:rPr lang="en-US" b="1"/>
              <a:t>outputs the probability distribution of tokens</a:t>
            </a:r>
            <a:r>
              <a:rPr lang="en-US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Each token in the </a:t>
            </a:r>
            <a:r>
              <a:rPr lang="en-US">
                <a:highlight>
                  <a:srgbClr val="FFFF00"/>
                </a:highlight>
              </a:rPr>
              <a:t>preceding context is represented as a vector</a:t>
            </a:r>
            <a:r>
              <a:rPr lang="en-US"/>
              <a:t> through a </a:t>
            </a:r>
            <a:r>
              <a:rPr lang="en-US" b="1"/>
              <a:t>projection layer </a:t>
            </a:r>
            <a:r>
              <a:rPr lang="en-US"/>
              <a:t>(i.e., an embedding matrrix).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highlight>
                  <a:srgbClr val="FFFF00"/>
                </a:highlight>
              </a:rPr>
              <a:t>These vectors of tokens are sent to the hidden layer</a:t>
            </a:r>
            <a:r>
              <a:rPr lang="en-US"/>
              <a:t> with H hidden units followed by </a:t>
            </a:r>
            <a:r>
              <a:rPr lang="en-US" b="1"/>
              <a:t>non-linear activatio</a:t>
            </a:r>
            <a:r>
              <a:rPr lang="en-US"/>
              <a:t>n.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Then, </a:t>
            </a:r>
            <a:r>
              <a:rPr lang="en-US" b="1"/>
              <a:t>a softmax function</a:t>
            </a:r>
            <a:r>
              <a:rPr lang="en-US"/>
              <a:t> is used to obtain the </a:t>
            </a:r>
            <a:r>
              <a:rPr lang="en-US">
                <a:highlight>
                  <a:srgbClr val="FFFF00"/>
                </a:highlight>
              </a:rPr>
              <a:t>posterior probabilities for token candidates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0310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FB01E-2501-C0B8-53AA-3087891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315"/>
            <a:ext cx="10515600" cy="1325563"/>
          </a:xfrm>
        </p:spPr>
        <p:txBody>
          <a:bodyPr/>
          <a:lstStyle/>
          <a:p>
            <a:pPr algn="ctr"/>
            <a:r>
              <a:rPr lang="en-US"/>
              <a:t>Recurrent Neural Network (RNN) Models</a:t>
            </a:r>
          </a:p>
        </p:txBody>
      </p:sp>
      <p:pic>
        <p:nvPicPr>
          <p:cNvPr id="3" name="Picture 2" descr="A diagram of a algorithm&#10;&#10;AI-generated content may be incorrect.">
            <a:extLst>
              <a:ext uri="{FF2B5EF4-FFF2-40B4-BE49-F238E27FC236}">
                <a16:creationId xmlns:a16="http://schemas.microsoft.com/office/drawing/2014/main" id="{069D028D-3AD5-B9C4-D54C-ACF7F8198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493" y="3014315"/>
            <a:ext cx="7017101" cy="35256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A0AD54-610A-9265-2939-4B288736DACB}"/>
              </a:ext>
            </a:extLst>
          </p:cNvPr>
          <p:cNvSpPr txBox="1"/>
          <p:nvPr/>
        </p:nvSpPr>
        <p:spPr>
          <a:xfrm>
            <a:off x="619648" y="1105318"/>
            <a:ext cx="1095270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Recurrent Neural Network (RNN) LMs can exploit arbitrarily long histories to predict the next token.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A token u(I) in position I is first converted into a one-hot representation u^(i). Then, the recurrent hidden state, h(i+1), is computed using the previous hidden state, h(i), and the one-hot representation, u^(i), of token u(i) aa  </a:t>
            </a:r>
          </a:p>
        </p:txBody>
      </p:sp>
      <p:pic>
        <p:nvPicPr>
          <p:cNvPr id="5" name="Picture 4" descr="A black letter with a white background&#10;&#10;AI-generated content may be incorrect.">
            <a:extLst>
              <a:ext uri="{FF2B5EF4-FFF2-40B4-BE49-F238E27FC236}">
                <a16:creationId xmlns:a16="http://schemas.microsoft.com/office/drawing/2014/main" id="{0B272910-167C-BC36-3EFC-33A903037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044" y="2577298"/>
            <a:ext cx="3508132" cy="43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06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D4CB7-2D16-19AF-ABFD-944200A12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315"/>
            <a:ext cx="10515600" cy="1325563"/>
          </a:xfrm>
        </p:spPr>
        <p:txBody>
          <a:bodyPr/>
          <a:lstStyle/>
          <a:p>
            <a:pPr algn="ctr"/>
            <a:r>
              <a:rPr lang="en-US"/>
              <a:t>Transformer Architecture</a:t>
            </a:r>
          </a:p>
        </p:txBody>
      </p:sp>
      <p:pic>
        <p:nvPicPr>
          <p:cNvPr id="3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0DF57A00-AFC7-2F26-F971-99C97E66F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99" y="1186581"/>
            <a:ext cx="3723637" cy="53423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334DB4-D042-E2DD-3792-BD79E50471A8}"/>
              </a:ext>
            </a:extLst>
          </p:cNvPr>
          <p:cNvSpPr txBox="1"/>
          <p:nvPr/>
        </p:nvSpPr>
        <p:spPr>
          <a:xfrm>
            <a:off x="4957590" y="1138409"/>
            <a:ext cx="6830457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The transformer architecture can capture long-term dependencies and important sequence comonents by exploiting a self-attention mechanism.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Unlike the recurrent strcutrue of RNNs, a transformer is easy to paralleize in both training and inference.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It consists of an encoder and a decoder.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Multi-head attention, which is an ensemble of multiple self-attention mechanisms, enables the transformer to capture more robust and diverse attention between tokens.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The other parts in the transformer encoder include feed-frowrd layers, residual connections, and normalizatioin layers. </a:t>
            </a:r>
          </a:p>
        </p:txBody>
      </p:sp>
    </p:spTree>
    <p:extLst>
      <p:ext uri="{BB962C8B-B14F-4D97-AF65-F5344CB8AC3E}">
        <p14:creationId xmlns:p14="http://schemas.microsoft.com/office/powerpoint/2010/main" val="1409720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05508-D83F-6B45-7B89-C748DAFC5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59"/>
            <a:ext cx="10515600" cy="1325563"/>
          </a:xfrm>
        </p:spPr>
        <p:txBody>
          <a:bodyPr/>
          <a:lstStyle/>
          <a:p>
            <a:pPr algn="ctr"/>
            <a:r>
              <a:rPr lang="en-US"/>
              <a:t>Different Transformer Models</a:t>
            </a:r>
          </a:p>
        </p:txBody>
      </p:sp>
      <p:pic>
        <p:nvPicPr>
          <p:cNvPr id="3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31E6E7F5-D884-8FC5-1C26-001DFF89B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962" y="1331406"/>
            <a:ext cx="8318449" cy="55265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92CD08-B715-BFA1-E29A-F1C4CFB29F6D}"/>
              </a:ext>
            </a:extLst>
          </p:cNvPr>
          <p:cNvSpPr txBox="1"/>
          <p:nvPr/>
        </p:nvSpPr>
        <p:spPr>
          <a:xfrm>
            <a:off x="0" y="1074144"/>
            <a:ext cx="229518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Encoder only modles can access all positions given an input and utilize bi-drectional contexts to predict tokens.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They are sitable for tasks requring understaing full sentences, such as text classification.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8A1C1E-BE95-82CD-CAE1-F996165E1C66}"/>
              </a:ext>
            </a:extLst>
          </p:cNvPr>
          <p:cNvSpPr txBox="1"/>
          <p:nvPr/>
        </p:nvSpPr>
        <p:spPr>
          <a:xfrm>
            <a:off x="9896819" y="1074144"/>
            <a:ext cx="229518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Decoder-only models can only use previous tokens to predict the currrent oken (namely, auto-regressive models). They are good at text generation tasks such as story generation.</a:t>
            </a:r>
          </a:p>
        </p:txBody>
      </p:sp>
    </p:spTree>
    <p:extLst>
      <p:ext uri="{BB962C8B-B14F-4D97-AF65-F5344CB8AC3E}">
        <p14:creationId xmlns:p14="http://schemas.microsoft.com/office/powerpoint/2010/main" val="3863331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52981-185D-1999-4DE8-CFDB7EEDB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04"/>
            <a:ext cx="10515600" cy="1325563"/>
          </a:xfrm>
        </p:spPr>
        <p:txBody>
          <a:bodyPr/>
          <a:lstStyle/>
          <a:p>
            <a:pPr algn="ctr"/>
            <a:r>
              <a:rPr lang="en-US"/>
              <a:t>Fine-Tuning, Adapter Tuning &amp; Prompt Tuning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89736A-B510-8742-8A60-3F9FB03D5BE9}"/>
              </a:ext>
            </a:extLst>
          </p:cNvPr>
          <p:cNvSpPr txBox="1"/>
          <p:nvPr/>
        </p:nvSpPr>
        <p:spPr>
          <a:xfrm>
            <a:off x="330505" y="1349565"/>
            <a:ext cx="11530987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PLMs learn non-task-specific language knowledge in the pre-training stage.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Fine-tuning performs task-specific adaptations of the model so that they can be applied to differenct downstream tasks.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The model parameters are updated in the fine-tuning stage.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One apprach is to design task-specific heads based on different label spaces and losses in different downstream tasks, then</a:t>
            </a:r>
            <a:r>
              <a:rPr lang="en-US" b="1"/>
              <a:t> update the entire model and task-specific heads</a:t>
            </a:r>
            <a:r>
              <a:rPr lang="en-US"/>
              <a:t>.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For instance, GPT and BERT added an extra linaer output layer as task-specific heads in their original papers, and </a:t>
            </a:r>
            <a:r>
              <a:rPr lang="en-US">
                <a:highlight>
                  <a:srgbClr val="FFFF00"/>
                </a:highlight>
              </a:rPr>
              <a:t>fine-tuned the entire set of parameters in the PLMs</a:t>
            </a:r>
            <a:r>
              <a:rPr lang="en-US"/>
              <a:t> and the heads for various downstream tasks, such as natural language inference, question answering, semantic similarity, and test classificaiton.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/>
              <a:t>Adapter tuning</a:t>
            </a:r>
            <a:r>
              <a:rPr lang="en-US"/>
              <a:t> is proposed to make fine-tuning even more parameter efficient compared with </a:t>
            </a:r>
            <a:r>
              <a:rPr lang="en-US">
                <a:highlight>
                  <a:srgbClr val="FFFF00"/>
                </a:highlight>
              </a:rPr>
              <a:t>updating the last layers of a PLM only.</a:t>
            </a:r>
            <a:r>
              <a:rPr lang="en-US"/>
              <a:t> 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432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F313A-8FC0-CC97-18C6-6CEDAF4D0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" y="-3315"/>
            <a:ext cx="12173577" cy="1325563"/>
          </a:xfrm>
        </p:spPr>
        <p:txBody>
          <a:bodyPr/>
          <a:lstStyle/>
          <a:p>
            <a:pPr algn="ctr"/>
            <a:r>
              <a:rPr lang="en-US" sz="2800"/>
              <a:t>LM Pre-Training, Standard Fine-Tuning &amp; Discrete Prompt-Based Fine-Tuning</a:t>
            </a:r>
            <a:endParaRPr lang="en-US"/>
          </a:p>
        </p:txBody>
      </p:sp>
      <p:pic>
        <p:nvPicPr>
          <p:cNvPr id="3" name="Picture 2" descr="A diagram of a program&#10;&#10;AI-generated content may be incorrect.">
            <a:extLst>
              <a:ext uri="{FF2B5EF4-FFF2-40B4-BE49-F238E27FC236}">
                <a16:creationId xmlns:a16="http://schemas.microsoft.com/office/drawing/2014/main" id="{A5EFDB30-886E-9A6C-90CC-D1FBE3FBB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7430"/>
            <a:ext cx="12192000" cy="471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734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7066-FB7F-78DA-31E2-B2F6DDC44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9497"/>
            <a:ext cx="10515600" cy="1325563"/>
          </a:xfrm>
        </p:spPr>
        <p:txBody>
          <a:bodyPr/>
          <a:lstStyle/>
          <a:p>
            <a:pPr algn="ctr"/>
            <a:r>
              <a:rPr lang="en-US"/>
              <a:t>Model Evaluation</a:t>
            </a:r>
          </a:p>
        </p:txBody>
      </p:sp>
    </p:spTree>
    <p:extLst>
      <p:ext uri="{BB962C8B-B14F-4D97-AF65-F5344CB8AC3E}">
        <p14:creationId xmlns:p14="http://schemas.microsoft.com/office/powerpoint/2010/main" val="17159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EF3E3-66F7-58ED-E4DC-A84435A62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" y="-3315"/>
            <a:ext cx="12198698" cy="1325563"/>
          </a:xfrm>
        </p:spPr>
        <p:txBody>
          <a:bodyPr/>
          <a:lstStyle/>
          <a:p>
            <a:pPr algn="ctr"/>
            <a:r>
              <a:rPr lang="en-US"/>
              <a:t>The Perplexity  for Evaluation of Auto-Regressvie LM</a:t>
            </a:r>
          </a:p>
        </p:txBody>
      </p:sp>
      <p:pic>
        <p:nvPicPr>
          <p:cNvPr id="3" name="Picture 2" descr="A square root of a mathematical equation&#10;&#10;AI-generated content may be incorrect.">
            <a:extLst>
              <a:ext uri="{FF2B5EF4-FFF2-40B4-BE49-F238E27FC236}">
                <a16:creationId xmlns:a16="http://schemas.microsoft.com/office/drawing/2014/main" id="{BFD3924C-CA57-37CB-A318-7B4FD29FD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256" y="2835310"/>
            <a:ext cx="3175489" cy="8859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9F6D58-34A8-4AA4-92B1-FC8CCDDEB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630" y="4284574"/>
            <a:ext cx="3497664" cy="9349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60C99D-CF90-DF2F-46E3-06B5FA2EF8E5}"/>
              </a:ext>
            </a:extLst>
          </p:cNvPr>
          <p:cNvSpPr txBox="1"/>
          <p:nvPr/>
        </p:nvSpPr>
        <p:spPr>
          <a:xfrm>
            <a:off x="401934" y="1356527"/>
            <a:ext cx="11471868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LMs </a:t>
            </a:r>
            <a:r>
              <a:rPr lang="en-US" b="1"/>
              <a:t>estimate the probability of text seqeucnes</a:t>
            </a:r>
            <a:r>
              <a:rPr lang="en-US"/>
              <a:t>. A </a:t>
            </a:r>
            <a:r>
              <a:rPr lang="en-US" b="1"/>
              <a:t>good LM </a:t>
            </a:r>
            <a:r>
              <a:rPr lang="en-US"/>
              <a:t>a</a:t>
            </a:r>
            <a:r>
              <a:rPr lang="en-US">
                <a:highlight>
                  <a:srgbClr val="FFFF00"/>
                </a:highlight>
              </a:rPr>
              <a:t>ssigns higher probabilities to natural text seqeunces and lower ones to unreal or random text seqeucnes. </a:t>
            </a:r>
          </a:p>
          <a:p>
            <a:pPr marL="285750" indent="-285750">
              <a:buFont typeface="Arial"/>
              <a:buChar char="•"/>
            </a:pPr>
            <a:endParaRPr lang="en-US">
              <a:highlight>
                <a:srgbClr val="FFFF00"/>
              </a:highlight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The perplexity is a common evaluation metric for this purpose. Given a testing text seqeunce, t</a:t>
            </a:r>
            <a:r>
              <a:rPr lang="en-US" b="1"/>
              <a:t>he perplexity, denoted by PPL,</a:t>
            </a:r>
            <a:r>
              <a:rPr lang="en-US"/>
              <a:t> is defined as</a:t>
            </a:r>
            <a:r>
              <a:rPr lang="en-US">
                <a:highlight>
                  <a:srgbClr val="FFFF00"/>
                </a:highlight>
              </a:rPr>
              <a:t> the</a:t>
            </a:r>
            <a:r>
              <a:rPr lang="en-US" b="1">
                <a:highlight>
                  <a:srgbClr val="FFFF00"/>
                </a:highlight>
              </a:rPr>
              <a:t> inverse probability </a:t>
            </a:r>
            <a:r>
              <a:rPr lang="en-US">
                <a:highlight>
                  <a:srgbClr val="FFFF00"/>
                </a:highlight>
              </a:rPr>
              <a:t>of </a:t>
            </a:r>
            <a:r>
              <a:rPr lang="en-US" b="1">
                <a:highlight>
                  <a:srgbClr val="FFFF00"/>
                </a:highlight>
              </a:rPr>
              <a:t>the sequence normalilzed by the number of tokens</a:t>
            </a:r>
            <a:r>
              <a:rPr lang="en-US"/>
              <a:t>. 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Where S = u1u2...uN is a testing test sequence. The perplexity can be rewritten in form of 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A good LM should maximize the text set probability. It si equivalent to minimizing the perplexity. The lower the perplexity, the bletter the LM.</a:t>
            </a:r>
          </a:p>
        </p:txBody>
      </p:sp>
    </p:spTree>
    <p:extLst>
      <p:ext uri="{BB962C8B-B14F-4D97-AF65-F5344CB8AC3E}">
        <p14:creationId xmlns:p14="http://schemas.microsoft.com/office/powerpoint/2010/main" val="17833591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8DC0B-1F24-4786-49A1-F998D7631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789CBA08-A49C-B670-537D-B43759B33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4190"/>
            <a:ext cx="12192000" cy="414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5356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98705-5E5D-B652-E631-8910DD65C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92510"/>
            <a:ext cx="10515600" cy="1325563"/>
          </a:xfrm>
        </p:spPr>
        <p:txBody>
          <a:bodyPr/>
          <a:lstStyle/>
          <a:p>
            <a:pPr algn="ctr"/>
            <a:r>
              <a:rPr lang="en-US"/>
              <a:t>Pre-trained Language Models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2F9461-2D67-3F1A-CFA3-78C90599AF47}"/>
              </a:ext>
            </a:extLst>
          </p:cNvPr>
          <p:cNvSpPr txBox="1"/>
          <p:nvPr/>
        </p:nvSpPr>
        <p:spPr>
          <a:xfrm>
            <a:off x="418681" y="4270549"/>
            <a:ext cx="1135463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Pre-trained language models (PLMs) are dominating in the NLP field nowadays.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The most commonly used pre-traininig task is 'missing token prediction'. There are other pre-training tasks for different purposes, e.g., next-sentence prediction, which allows an LM to learn sentence relationships. </a:t>
            </a:r>
          </a:p>
        </p:txBody>
      </p:sp>
    </p:spTree>
    <p:extLst>
      <p:ext uri="{BB962C8B-B14F-4D97-AF65-F5344CB8AC3E}">
        <p14:creationId xmlns:p14="http://schemas.microsoft.com/office/powerpoint/2010/main" val="269596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An Overview of Language Models: Recent developments &amp; Outlook</vt:lpstr>
      <vt:lpstr>Abstract</vt:lpstr>
      <vt:lpstr>Introduction</vt:lpstr>
      <vt:lpstr>Conventional Language Models (CLMs)</vt:lpstr>
      <vt:lpstr>Pre-trained Language Model (PLM)</vt:lpstr>
      <vt:lpstr>Types of Language Models beyond CLMs.</vt:lpstr>
      <vt:lpstr>Structural LM</vt:lpstr>
      <vt:lpstr>Bidirectional LM</vt:lpstr>
      <vt:lpstr>Permutation LM</vt:lpstr>
      <vt:lpstr>Linguistic Units</vt:lpstr>
      <vt:lpstr>Characters</vt:lpstr>
      <vt:lpstr>Words and Subwords</vt:lpstr>
      <vt:lpstr>Architecture of Language Models</vt:lpstr>
      <vt:lpstr>Feed-forward Neural Network (FNN) Models</vt:lpstr>
      <vt:lpstr>Recurrent Neural Network (RNN) Models</vt:lpstr>
      <vt:lpstr>Transformer Architecture</vt:lpstr>
      <vt:lpstr>Different Transformer Models</vt:lpstr>
      <vt:lpstr>Fine-Tuning, Adapter Tuning &amp; Prompt Tuning</vt:lpstr>
      <vt:lpstr>LM Pre-Training, Standard Fine-Tuning &amp; Discrete Prompt-Based Fine-Tuning</vt:lpstr>
      <vt:lpstr>Model Evaluation</vt:lpstr>
      <vt:lpstr>The Perplexity  for Evaluation of Auto-Regressvie LM</vt:lpstr>
      <vt:lpstr>PowerPoint Presentation</vt:lpstr>
      <vt:lpstr>Pre-trained Language Models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2025-03-07T11:34:57Z</dcterms:created>
  <dcterms:modified xsi:type="dcterms:W3CDTF">2025-03-08T00:43:44Z</dcterms:modified>
</cp:coreProperties>
</file>