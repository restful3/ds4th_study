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Agent의 이해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1.0 기반 AI Agent 완벽 가이드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4114800"/>
            <a:ext cx="4572000" cy="36576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시간: 2-3시간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난이도: ⭐ 입문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371600"/>
            <a:ext cx="54864" cy="64008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9047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1371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LangChain이 무엇이고 왜 사용하는지 설명할 수 있다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148840"/>
            <a:ext cx="54864" cy="64008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6771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45920" y="2148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Agent의 개념과 동작 원리를 이해한다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2926080"/>
            <a:ext cx="54864" cy="64008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0449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LangChain의 핵심 철학과 설계 원칙을 이해한다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31520" y="370332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3703320"/>
            <a:ext cx="54864" cy="64008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82219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3703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환경을 설정하고 첫 번째 예제를 실행할 수 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AI Agent를 배워야 하는가?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060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5448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한계 극복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2743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텍스트 생성을 넘어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도구를 사용하고 복잡한 작업 수행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280160"/>
            <a:ext cx="26060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280160"/>
            <a:ext cx="260604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5448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 준비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74720" y="2743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프로토타입을 넘어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서비스로 배포 가능한 Agent 구축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1280160"/>
            <a:ext cx="26060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280160"/>
            <a:ext cx="2606040" cy="54864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5448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생태계 이해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09360" y="2743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LangChain, LangGraph, LangSmith의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관계를 이해하고 적절히 활용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활용 사례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128016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서비스 Agent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0876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질문에 답변하고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데이터베이스를 조회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371600"/>
            <a:ext cx="39319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371600"/>
            <a:ext cx="54864" cy="128016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리서치 Agent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71500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웹에서 정보를 검색하고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자동으로 요약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926080"/>
            <a:ext cx="39319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926080"/>
            <a:ext cx="54864" cy="128016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 Agent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50876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쿼리 실행과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 생성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2926080"/>
            <a:ext cx="39319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2926080"/>
            <a:ext cx="54864" cy="128016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46120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1500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 자동화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71500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업무 프로세스를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자동으로 처리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LANGCHAIN 이란?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LangChain이란?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기반 애플리케이션을 쉽게 개발할 수 있도록 돕는 오픈소스 프레임워크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560320" cy="914400"/>
          </a:xfrm>
          <a:prstGeom prst="rect">
            <a:avLst/>
          </a:prstGeom>
          <a:solidFill>
            <a:srgbClr val="0E4D9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1488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2336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Agent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94560"/>
            <a:ext cx="201168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60320" y="2450592"/>
            <a:ext cx="6400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5120" y="2194560"/>
            <a:ext cx="201168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2450592"/>
            <a:ext cx="6400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5"/>
          <p:cNvSpPr/>
          <p:nvPr/>
        </p:nvSpPr>
        <p:spPr>
          <a:xfrm>
            <a:off x="1783080" y="3017520"/>
            <a:ext cx="36576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6"/>
          <p:cNvSpPr/>
          <p:nvPr/>
        </p:nvSpPr>
        <p:spPr>
          <a:xfrm>
            <a:off x="914400" y="3520440"/>
            <a:ext cx="17830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630168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08760" y="3520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Claude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343400" y="3017520"/>
            <a:ext cx="36576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Shape 19"/>
          <p:cNvSpPr/>
          <p:nvPr/>
        </p:nvSpPr>
        <p:spPr>
          <a:xfrm>
            <a:off x="3474720" y="3520440"/>
            <a:ext cx="17830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630168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069080" y="3520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도구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DB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903720" y="3017520"/>
            <a:ext cx="36576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Shape 22"/>
          <p:cNvSpPr/>
          <p:nvPr/>
        </p:nvSpPr>
        <p:spPr>
          <a:xfrm>
            <a:off x="6035040" y="3520440"/>
            <a:ext cx="17830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630168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29400" y="3520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기록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LANGCHAIN 이란?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핵심 특징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solidFill>
            <a:srgbClr val="38BDF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10줄 이하 Agent 생성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828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설정 없이 빠른 프로토타입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LLM 프로바이더 지원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39319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63040"/>
            <a:ext cx="640080" cy="640080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표준화된 모델 인터페이스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1828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프로바이더 API 통일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종속성(lock-in) 방지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기반 아키텍처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execution, 스트리밍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Human-in-the-loop, 상태 관리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39319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108960"/>
            <a:ext cx="640080" cy="640080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디버깅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경로 시각화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전환 추적, 런타임 메트릭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LANGCHAIN 이란?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10줄로 만드는 첫 Agent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029200" cy="32004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3258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langchain.agents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create_agent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(city: str)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"""도시의 날씨를 알려줍니다"""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f"{city}는 항상 화창합니다!"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model="claude-sonnet-4-5-20250929",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tools=[get_weather],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system_prompt="친절한 도우미"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188720"/>
            <a:ext cx="30175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188720"/>
            <a:ext cx="54864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1261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도구 정의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함수로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도구(Tool)를 정의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286000"/>
            <a:ext cx="30175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2286000"/>
            <a:ext cx="54864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Agent 생성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+ 도구 + 프롬프트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 3개 파라미터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383280"/>
            <a:ext cx="30175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3383280"/>
            <a:ext cx="54864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실행 결과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932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"샌프란시스코는 항상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화창합니다!"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LANGCHAIN의 철학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LangChain의 핵심 철학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680960" cy="7132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1362456"/>
            <a:ext cx="457200" cy="457200"/>
          </a:xfrm>
          <a:prstGeom prst="ellipse">
            <a:avLst/>
          </a:prstGeom>
          <a:solidFill>
            <a:srgbClr val="38BDF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362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강력한 새로운 기술이다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이해·생성, 추론 능력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7680960" cy="7132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2231136"/>
            <a:ext cx="457200" cy="457200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데이터와 결합하면 더 강력하다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RAG, Tool calling, DB 연동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971800"/>
            <a:ext cx="7680960" cy="7132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5840" y="3099816"/>
            <a:ext cx="457200" cy="457200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미래는 점점 더 Agentic 해진다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작업 수행, 자율적 의사결정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7680960" cy="7132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5840" y="3968496"/>
            <a:ext cx="457200" cy="457200"/>
          </a:xfrm>
          <a:prstGeom prst="ellipse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16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프로토타입은 쉽지만 프로덕션은 어렵다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91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신뢰성, 오류 처리, 모니터링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LANGCHAIN의 철학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LangChain의 두 가지 핵심 목표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319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3931920" cy="54864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6304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최고의 모델로 개발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31520" y="2606040"/>
            <a:ext cx="3566160" cy="1554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6974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OpenAI 사용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ChatOpenAI("gpt-4o")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Anthropic으로 교체 (1줄)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ChatAnthropic("claude")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Google로 교체 (1줄)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ChatGoogle("gemini")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234440"/>
            <a:ext cx="39319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234440"/>
            <a:ext cx="393192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630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3776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플로우 오케스트레이션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029200" y="2651760"/>
            <a:ext cx="33832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5"/>
          <p:cNvSpPr/>
          <p:nvPr/>
        </p:nvSpPr>
        <p:spPr>
          <a:xfrm>
            <a:off x="5029200" y="2651760"/>
            <a:ext cx="4572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6"/>
          <p:cNvSpPr/>
          <p:nvPr/>
        </p:nvSpPr>
        <p:spPr>
          <a:xfrm>
            <a:off x="52578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호출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67512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DB 쿼리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29200" y="3246120"/>
            <a:ext cx="33832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9"/>
          <p:cNvSpPr/>
          <p:nvPr/>
        </p:nvSpPr>
        <p:spPr>
          <a:xfrm>
            <a:off x="5029200" y="3246120"/>
            <a:ext cx="45720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0"/>
          <p:cNvSpPr/>
          <p:nvPr/>
        </p:nvSpPr>
        <p:spPr>
          <a:xfrm>
            <a:off x="525780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접근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6751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문서, 이미지 처리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029200" y="3840480"/>
            <a:ext cx="33832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3"/>
          <p:cNvSpPr/>
          <p:nvPr/>
        </p:nvSpPr>
        <p:spPr>
          <a:xfrm>
            <a:off x="5029200" y="3840480"/>
            <a:ext cx="45720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24"/>
          <p:cNvSpPr/>
          <p:nvPr/>
        </p:nvSpPr>
        <p:spPr>
          <a:xfrm>
            <a:off x="525780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67512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다단계 복잡한 작업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AGENT란?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Agent란?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LLM을 추론 엔진(reasoning engine)으로 사용하는 자율적 시스템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92024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828800"/>
            <a:ext cx="594360" cy="594360"/>
          </a:xfrm>
          <a:prstGeom prst="ellipse">
            <a:avLst/>
          </a:prstGeom>
          <a:solidFill>
            <a:srgbClr val="38BDF8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분석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651760" y="1645920"/>
            <a:ext cx="192024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828800"/>
            <a:ext cx="594360" cy="594360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8892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결정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도구를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사용할지 판단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846320" y="1645920"/>
            <a:ext cx="192024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828800"/>
            <a:ext cx="594360" cy="594360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8348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호출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선택한 도구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040880" y="1645920"/>
            <a:ext cx="192024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960" y="1828800"/>
            <a:ext cx="594360" cy="594360"/>
          </a:xfrm>
          <a:prstGeom prst="ellipse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17804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종합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모아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응답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Agent는 LLM이 "생각하고 행동하는" 과정을 반복하며 복잡한 문제를 해결합니다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AGENT란?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동작 흐름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"서울 날씨와 뉴욕 날씨 비교해줘"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10972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508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1508760"/>
            <a:ext cx="9144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"서울 날씨와 뉴욕 날씨 비교해줘"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1920240"/>
            <a:ext cx="10972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1920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1920240"/>
            <a:ext cx="9144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1920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분석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2331720"/>
            <a:ext cx="10972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2331720"/>
            <a:ext cx="9144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2331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get_weather("서울"), get_weather("뉴욕") 호출 결정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" y="2743200"/>
            <a:ext cx="10972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2743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65960" y="2743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0" y="2743200"/>
            <a:ext cx="9144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2743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get_weather("서울") → "맑음, 15°C"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" y="3154680"/>
            <a:ext cx="10972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86000" y="3154680"/>
            <a:ext cx="9144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0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8328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get_weather("뉴욕") → "흐림, 8°C"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" y="3566160"/>
            <a:ext cx="10972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965960" y="3566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286000" y="3566160"/>
            <a:ext cx="9144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2286000" y="3566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8328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종합 요청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2960" y="3977640"/>
            <a:ext cx="10972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965960" y="3977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286000" y="3977640"/>
            <a:ext cx="9144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2286000" y="3977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83280" y="3977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"서울이 뉴욕보다 따뜻하고 맑습니다"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AGENT란?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vs. 단순 LLM 호출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834640"/>
                <a:gridCol w="37490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단순 LLM 호출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9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 → 출력 (1회)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 → 추론 → 도구 → 재추론 (반복)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외부 데이터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가능 (API, DB 등)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복잡한 작업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가능 (다단계 추론)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실시간 정보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불가능 (학습 데이터만)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가능 (도구로 조회)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AGENT란?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패턴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0" y="502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+ Acting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777240" cy="868680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8016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630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(추론)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"무엇을 해야 하는가?"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444752"/>
            <a:ext cx="33832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4447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서울 날씨를 알아야 합니다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31720"/>
            <a:ext cx="777240" cy="86868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317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4630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Acting (행동)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호출 실행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496312"/>
            <a:ext cx="33832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24963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get_weather("서울")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83280"/>
            <a:ext cx="777240" cy="868680"/>
          </a:xfrm>
          <a:prstGeom prst="rect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8328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46304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(관찰)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 → 반복 또는 응답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3547872"/>
            <a:ext cx="33832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3547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서울: 맑음, 15°C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최종 답변이 나올 때까지 R → A → O 를 반복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LANGCHAIN의 역사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발전 과정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97280" y="2651760"/>
            <a:ext cx="69494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251460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2022.10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v0.0.1 출시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44168" y="2057400"/>
            <a:ext cx="36576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추상화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Chains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51460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2022.12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 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98648" y="2057400"/>
            <a:ext cx="36576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패턴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251460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2023.03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9476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61688" y="2057400"/>
            <a:ext cx="36576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379476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FC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251460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24728" y="2057400"/>
            <a:ext cx="36576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저수준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9480" y="2514600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1228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79208" y="2057400"/>
            <a:ext cx="36576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추상화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핵심 변화: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Chains와 Agents를 create_agent() 하나로 통합, 표준 메시지 포맷 도입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LANGCHAIN vs LANGGRAPH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vs. LangGraph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3192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39319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빠르게 Agent 구축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10줄 이하 코드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적은 제어, 높은 편의성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입문자, 빠른 프로토타입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393192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393192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Low-level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고급 커스터마이징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50줄 이상 코드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높은 제어, 복잡한 구현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고급 사용자, 복잡한 워크플로우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LangChain으로 시작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대부분의 경우 충분    </a:t>
            </a:r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LangGraph로 확장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고급 기능 필요 시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LANGCHAIN vs LANGGRAPH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LangGraph가 제공하는 것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LangChain이 내부적으로 활용하는 저수준 오케스트레이션 엔진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9319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554480"/>
            <a:ext cx="54864" cy="11887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Execution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6304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상태를 영구 저장하여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장시간 작업도 안전하게 처리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554480"/>
            <a:ext cx="39319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55448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92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66928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토큰 스트리밍으로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사용자 경험 제공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3017520"/>
            <a:ext cx="39319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017520"/>
            <a:ext cx="54864" cy="118872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46304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 결정에 사람이 개입하여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 Agent 운영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3017520"/>
            <a:ext cx="39319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3017520"/>
            <a:ext cx="54864" cy="118872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9184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692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66928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저장과 복원으로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맥락을 유지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환경 설정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설정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요구사항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 이상 (3.11 권장)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8GB RAM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macOS, Linux, Windows (WSL2)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명령어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1828800"/>
            <a:ext cx="3566160" cy="1645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920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가상환경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LangChain 설치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langchain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langchain-openai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환경변수 설정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OPENAI_API_KEY="sk-..."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환경 설정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확인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280160"/>
            <a:ext cx="7315200" cy="23774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solidFill>
            <a:srgbClr val="1A1D23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13716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1371600"/>
            <a:ext cx="137160" cy="13716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1371600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17373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02_environment_check.py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Python 버전: 3.11.0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LangChain 설치됨: 0.3.0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OPENAI_API_KEY 설정됨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🎉 모든 환경이 정상입니다!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과제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과제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3192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39319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1: 환경 설정 및 확인  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9202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Python 3.10 이상 설치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LangChain 설치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API 키 설정 (OpenAI/Anthropic/Google)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02_environment_check.py 실행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393192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393192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2: 첫 번째 Agent 실행  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01_hello_langchain.py 읽고 이해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코드 실행하기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질문을 바꿔서 다시 실행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도구 설명(docstring) 변경 후 관찰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system_prompt 변경으로 성격 바꾸기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팁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팁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54864" cy="30175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1: API 키 관리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1828800"/>
            <a:ext cx="3474720" cy="12801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1920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파일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OPENAI_API_KEY=sk-...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ANTHROPIC_API_KEY=sk-ant-...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Python에서 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.env 파일은 절대 Git에 커밋하지 마세요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.env.example을 템플릿으로 제공하세요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1188720"/>
            <a:ext cx="393192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188720"/>
            <a:ext cx="54864" cy="13258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2: 비용 절약 모델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0" y="1645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 gpt-4o-mini (15배 저렴)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Anthropic: claude-3-5-haiku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gemini-1.5-flash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74320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743200"/>
            <a:ext cx="54864" cy="1463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3: 무료 로컬 모델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0" y="3200400"/>
            <a:ext cx="3383280" cy="8229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ollama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ChatOllama("llama3.2")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묻는 질문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914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LangChain vs. LlamaIndex, 어떤 걸 써야 하나요?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중심이라면 LangChain, RAG 중심이라면 LlamaIndex를 추천합니다. 두 프레임워크는 함께 사용 가능합니다.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3172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77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LangGraph를 따로 배워야 하나요?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입문 단계에서는 불필요합니다. create_agent()만으로 충분하며, 복잡한 워크플로우가 필요하면 Part 7에서 다룹니다.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29000"/>
            <a:ext cx="54864" cy="914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어떤 LLM 프로바이더를 사용해야 하나요?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학습/프로토타입: GPT-4o-mini (저렴, 안정적)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프로덕션: Claude 3.5 Sonnet (정확, 긴 컨텍스트)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무료: Ollama + Llama 3.2 (오프라인 가능)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심화 학습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심화 학습 자료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3192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1325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문서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LangChain 공식 문서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LangGraph 소개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LangSmith 문서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93192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13258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논문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ReAct: Reasoning + Acting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Toolformer: LLM 도구 사용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93192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54864" cy="13258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LangChain Discord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LangChain Blog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393192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834640"/>
            <a:ext cx="54864" cy="13258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동영상 강의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291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freeCodeCamp Crash Course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DeepLearning.AI 강의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체크리스트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1을 완료하기 전에 확인하세요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7315200" cy="34747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9961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463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LangChain이 무엇인지 설명할 수 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1901952"/>
            <a:ext cx="7315200" cy="347472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85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19019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Agent의 동작 원리를 이해했다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14400" y="2340864"/>
            <a:ext cx="7315200" cy="34747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774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3408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vs. LangGraph의 차이를 안다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14400" y="2779776"/>
            <a:ext cx="7315200" cy="347472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81635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2779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환경이 정상적으로 설정되었다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14400" y="3218688"/>
            <a:ext cx="7315200" cy="34747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25526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32186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01_hello_langchain.py를 실행해봤다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914400" y="3657600"/>
            <a:ext cx="7315200" cy="347472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694176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54480" y="36576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02_environment_check.py가 정상 작동한다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914400" y="4096512"/>
            <a:ext cx="7315200" cy="34747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133088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554480" y="40965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FAQ를 읽어봤다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  |  Part 1: AI Agent의 이해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137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88720"/>
            <a:ext cx="822960" cy="137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097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Part 1 완료!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822960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316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LangChain 기초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14400" y="3017520"/>
            <a:ext cx="54864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Models 사용법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3017520"/>
            <a:ext cx="54864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Messages와 Content Blocks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14400" y="3520440"/>
            <a:ext cx="54864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정의하기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3520440"/>
            <a:ext cx="54864" cy="3657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3" name="Text 20"/>
          <p:cNvSpPr/>
          <p:nvPr/>
        </p:nvSpPr>
        <p:spPr>
          <a:xfrm>
            <a:off x="493776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 이해하기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AI Agent의 이해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AI Agent 마스터 교안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773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1: AI Agent의 이해</dc:title>
  <dc:subject>PptxGenJS Presentation</dc:subject>
  <dc:creator>LangChain Curriculum Team</dc:creator>
  <cp:lastModifiedBy>LangChain Curriculum Team</cp:lastModifiedBy>
  <cp:revision>1</cp:revision>
  <dcterms:created xsi:type="dcterms:W3CDTF">2026-02-06T20:12:00Z</dcterms:created>
  <dcterms:modified xsi:type="dcterms:W3CDTF">2026-02-06T20:12:00Z</dcterms:modified>
</cp:coreProperties>
</file>